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68" r:id="rId2"/>
    <p:sldId id="267" r:id="rId3"/>
    <p:sldId id="269" r:id="rId4"/>
    <p:sldId id="262" r:id="rId5"/>
    <p:sldId id="256" r:id="rId6"/>
    <p:sldId id="257" r:id="rId7"/>
    <p:sldId id="258" r:id="rId8"/>
    <p:sldId id="259" r:id="rId9"/>
    <p:sldId id="260" r:id="rId10"/>
    <p:sldId id="261" r:id="rId11"/>
    <p:sldId id="263" r:id="rId12"/>
    <p:sldId id="264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00"/>
    <p:restoredTop sz="92272" autoAdjust="0"/>
  </p:normalViewPr>
  <p:slideViewPr>
    <p:cSldViewPr snapToGrid="0">
      <p:cViewPr varScale="1">
        <p:scale>
          <a:sx n="98" d="100"/>
          <a:sy n="98" d="100"/>
        </p:scale>
        <p:origin x="13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BED725-3DB2-4B02-BE3D-996C3C0E3A32}" type="datetimeFigureOut">
              <a:rPr lang="en-US" smtClean="0"/>
              <a:t>11/3/22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DBB459-06F1-4587-829E-94BA674DF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671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Following CDFW disc on Nov 20 – adjust to 50% of predicted, except 75% of p10, p25?  Want to get up to 500cfs in most years, with not to much below that in drier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BB459-06F1-4587-829E-94BA674DF6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84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Following CDFW discussion – adjust to 1200 </a:t>
            </a:r>
            <a:r>
              <a:rPr lang="en-US" dirty="0" err="1"/>
              <a:t>cfs</a:t>
            </a:r>
            <a:r>
              <a:rPr lang="en-US" dirty="0"/>
              <a:t> to 9000 </a:t>
            </a:r>
            <a:r>
              <a:rPr lang="en-US" dirty="0" err="1"/>
              <a:t>cfs</a:t>
            </a:r>
            <a:r>
              <a:rPr lang="en-US" dirty="0"/>
              <a:t>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BB459-06F1-4587-829E-94BA674DF68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300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Following CDFW discussion – adjust to 1200 </a:t>
            </a:r>
            <a:r>
              <a:rPr lang="en-US" dirty="0" err="1"/>
              <a:t>cfs</a:t>
            </a:r>
            <a:r>
              <a:rPr lang="en-US" dirty="0"/>
              <a:t> to 9000 </a:t>
            </a:r>
            <a:r>
              <a:rPr lang="en-US" dirty="0" err="1"/>
              <a:t>cfs</a:t>
            </a:r>
            <a:r>
              <a:rPr lang="en-US" dirty="0"/>
              <a:t>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BB459-06F1-4587-829E-94BA674DF68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389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Following CDFW disc on Nov 20 – adjust to 50% of predicted, except 75% of p10, p25?  Want to get up to 500cfs in most years, with not to much below that in drier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BB459-06F1-4587-829E-94BA674DF6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537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Following discussion with CDFW on Nov 20 – may want to keep p10, p25 as natural, and do 75% of p50-p90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BB459-06F1-4587-829E-94BA674DF6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23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BB459-06F1-4587-829E-94BA674DF68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254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53CD5-44A2-48A7-B452-3658458CA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F07020-59A6-4445-BBFA-BD0F70672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D7548-A8BF-4D6E-9D51-FF8315142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AABDD-32B5-4A46-A02F-A5C5C250472B}" type="datetimeFigureOut">
              <a:rPr lang="en-US" smtClean="0"/>
              <a:t>11/3/22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ED68B-848F-4BB4-A4DA-A648B6A54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321C9-7E49-4FAF-9EE2-3793FBC33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91018-E35E-434C-A6BA-8A3946896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26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0C450-ECFB-497F-90E1-E42B4B657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90DA7-FB9D-499C-BAF1-E92103168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1EE5F-612D-4E16-AFDB-ABC8DE7B3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AABDD-32B5-4A46-A02F-A5C5C250472B}" type="datetimeFigureOut">
              <a:rPr lang="en-US" smtClean="0"/>
              <a:t>11/3/22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B318F-0A4B-4704-9CAB-1CC5794E5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49FD0-E18C-46B0-A858-48708ECD1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91018-E35E-434C-A6BA-8A3946896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632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5252E-3142-46D7-9855-3E806FB8A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340F1-6431-4E18-83F7-0397ADB04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DA70D-2548-4FDB-9C83-26363D80F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AABDD-32B5-4A46-A02F-A5C5C250472B}" type="datetimeFigureOut">
              <a:rPr lang="en-US" smtClean="0"/>
              <a:t>11/3/22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7473C-4E33-40F3-A44F-B885C32AD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E02DC-2E47-4A4A-A4BD-AC590CAC9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91018-E35E-434C-A6BA-8A3946896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849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F9C3F-D1F8-4400-BCDE-ACCF192B2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C812B-46F8-45B6-AFE2-837C2BC536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577EDB-ABDE-4988-9C9C-8AEAE6552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8FD0F2-C98F-42D4-8681-F8296765E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AABDD-32B5-4A46-A02F-A5C5C250472B}" type="datetimeFigureOut">
              <a:rPr lang="en-US" smtClean="0"/>
              <a:t>11/3/22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51B4C-84AA-4A37-BA5B-24465A5A3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D5CFC-A35F-47EB-B2DF-0B36D87C3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91018-E35E-434C-A6BA-8A3946896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777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A739F-7690-40F2-8AF9-8BACD501B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D9FAB-32BC-4A3C-AA18-6D4E31C63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0A8417-DCBE-4F2C-B382-8E6BAFE3DF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53C9E9-FE0C-429D-8F34-38F3573AFC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19CEF6-23A1-4099-B453-E5BE43ABFD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917148-4A13-45CC-B7C3-1C727C1D1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AABDD-32B5-4A46-A02F-A5C5C250472B}" type="datetimeFigureOut">
              <a:rPr lang="en-US" smtClean="0"/>
              <a:t>11/3/22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7C8CB6-6572-433A-BC17-C7559FD56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2EDEB8-86DA-428D-AB3F-A56B35443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91018-E35E-434C-A6BA-8A3946896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295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AF4DD-FFF0-4879-A025-E44AA2D15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DE9691-E90F-4FA9-AAEF-61D55A5D9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AABDD-32B5-4A46-A02F-A5C5C250472B}" type="datetimeFigureOut">
              <a:rPr lang="en-US" smtClean="0"/>
              <a:t>11/3/22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72008F-AE2F-4DEA-825E-B4961A6C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80F678-7D27-419C-B3A6-D0EE4680E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91018-E35E-434C-A6BA-8A3946896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987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464A7E-5403-464A-99C2-A630768AB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AABDD-32B5-4A46-A02F-A5C5C250472B}" type="datetimeFigureOut">
              <a:rPr lang="en-US" smtClean="0"/>
              <a:t>11/3/22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9417A8-8AFD-44B5-8F15-D0F6C74CE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579A0-CC78-4993-94C6-7D3CAF60E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91018-E35E-434C-A6BA-8A3946896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486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F181E-E956-47F6-8FB9-A84D0EA8E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253C5-0B2B-4D5F-A8C9-DC5031DB0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C69251-0972-45AB-B698-A0753D9EB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C6F39-2249-4ED7-93BF-28738BFC5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AABDD-32B5-4A46-A02F-A5C5C250472B}" type="datetimeFigureOut">
              <a:rPr lang="en-US" smtClean="0"/>
              <a:t>11/3/22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A8B97-3C39-4B5D-8CCA-848E6EBD3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A050D-0D12-4BE2-896C-2CDF38BE2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91018-E35E-434C-A6BA-8A3946896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602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4D661-E900-4083-A460-4618BF5EA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7A9E62-6F9C-47D4-BDC8-02BDADBAE6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1FA0D2-0AA5-4474-BA47-F82F0BF89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7943D-1A8B-4114-A019-748D108D1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AABDD-32B5-4A46-A02F-A5C5C250472B}" type="datetimeFigureOut">
              <a:rPr lang="en-US" smtClean="0"/>
              <a:t>11/3/22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5B64DD-8154-4462-9C7F-0B39B7EB4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517EA2-F862-4A22-AE4D-748537003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91018-E35E-434C-A6BA-8A3946896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33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C60F5-8426-4D98-9330-B4E3D38F2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15601A-2EB8-4096-A9A8-E24C2DB1A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8EEA5-A9BD-486C-9E29-7175A0965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AABDD-32B5-4A46-A02F-A5C5C250472B}" type="datetimeFigureOut">
              <a:rPr lang="en-US" smtClean="0"/>
              <a:t>11/3/22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CFCB2-4798-4214-BE77-FE269FEB4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C6CC6-2C47-4145-9A99-389D36290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91018-E35E-434C-A6BA-8A3946896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893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D94F5D-A877-4235-9736-0DB8306508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C5771-4CE4-48A4-B795-AB833084D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FD879-A039-4D04-8A9D-4CE4F6D45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AABDD-32B5-4A46-A02F-A5C5C250472B}" type="datetimeFigureOut">
              <a:rPr lang="en-US" smtClean="0"/>
              <a:t>11/3/22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D0A13-CCEF-42E8-97BA-DC6C7A72F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DD899-93D3-4F35-8A12-F4023BAC1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91018-E35E-434C-A6BA-8A3946896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694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54E08E-37DB-4EC9-9C17-2A18903C1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48B23-293C-4434-988B-5F3157888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7F006-783A-4315-8C3D-FAB9B383FA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AABDD-32B5-4A46-A02F-A5C5C250472B}" type="datetimeFigureOut">
              <a:rPr lang="en-US" smtClean="0"/>
              <a:t>11/3/22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94B8D-2703-4B7B-8462-69217D001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800F3-D9CD-4957-BD40-7621077767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91018-E35E-434C-A6BA-8A3946896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871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E7D196-63A1-42CF-9B87-952B81196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43355"/>
            <a:ext cx="7886700" cy="712560"/>
          </a:xfrm>
        </p:spPr>
        <p:txBody>
          <a:bodyPr>
            <a:normAutofit/>
          </a:bodyPr>
          <a:lstStyle/>
          <a:p>
            <a:r>
              <a:rPr lang="en-US" dirty="0"/>
              <a:t>Wet Season Baseflow – Tuolumne (La Grange)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80BD87-0C43-4653-A24F-3C689EB0F642}"/>
              </a:ext>
            </a:extLst>
          </p:cNvPr>
          <p:cNvSpPr txBox="1"/>
          <p:nvPr/>
        </p:nvSpPr>
        <p:spPr>
          <a:xfrm flipH="1">
            <a:off x="152400" y="1375786"/>
            <a:ext cx="369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DWR</a:t>
            </a:r>
            <a:r>
              <a:rPr lang="en-US" dirty="0"/>
              <a:t> Predicted FF Metrics – All years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747E9E-ED96-4514-AAF7-35108C45A545}"/>
              </a:ext>
            </a:extLst>
          </p:cNvPr>
          <p:cNvSpPr/>
          <p:nvPr/>
        </p:nvSpPr>
        <p:spPr>
          <a:xfrm>
            <a:off x="4748915" y="1225689"/>
            <a:ext cx="406851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Suggests adjusting wet season magnitude to mag-10 or 50% mag-10 if flows are to stay in channel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r>
              <a:rPr lang="en-US" dirty="0"/>
              <a:t>Additional Rules: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Continues from Feb 1 until spring recession ramp up date, which is back-calculated from spring recession magnitude start date. (ramp up approximately 2 weeks)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93092D-EE5A-452E-9B18-47DA9A3EBE10}"/>
              </a:ext>
            </a:extLst>
          </p:cNvPr>
          <p:cNvSpPr txBox="1"/>
          <p:nvPr/>
        </p:nvSpPr>
        <p:spPr>
          <a:xfrm flipH="1">
            <a:off x="142772" y="5297548"/>
            <a:ext cx="4168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Adjusted Wet Season (Mag_10) (scaled %)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B9EF18F-8FD8-4060-B1CD-E4F170FC3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736468"/>
              </p:ext>
            </p:extLst>
          </p:nvPr>
        </p:nvGraphicFramePr>
        <p:xfrm>
          <a:off x="226765" y="1791956"/>
          <a:ext cx="4168322" cy="14231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2787">
                  <a:extLst>
                    <a:ext uri="{9D8B030D-6E8A-4147-A177-3AD203B41FA5}">
                      <a16:colId xmlns:a16="http://schemas.microsoft.com/office/drawing/2014/main" val="240585961"/>
                    </a:ext>
                  </a:extLst>
                </a:gridCol>
                <a:gridCol w="426095">
                  <a:extLst>
                    <a:ext uri="{9D8B030D-6E8A-4147-A177-3AD203B41FA5}">
                      <a16:colId xmlns:a16="http://schemas.microsoft.com/office/drawing/2014/main" val="3592981924"/>
                    </a:ext>
                  </a:extLst>
                </a:gridCol>
                <a:gridCol w="734860">
                  <a:extLst>
                    <a:ext uri="{9D8B030D-6E8A-4147-A177-3AD203B41FA5}">
                      <a16:colId xmlns:a16="http://schemas.microsoft.com/office/drawing/2014/main" val="313138336"/>
                    </a:ext>
                  </a:extLst>
                </a:gridCol>
                <a:gridCol w="734860">
                  <a:extLst>
                    <a:ext uri="{9D8B030D-6E8A-4147-A177-3AD203B41FA5}">
                      <a16:colId xmlns:a16="http://schemas.microsoft.com/office/drawing/2014/main" val="867856289"/>
                    </a:ext>
                  </a:extLst>
                </a:gridCol>
                <a:gridCol w="734860">
                  <a:extLst>
                    <a:ext uri="{9D8B030D-6E8A-4147-A177-3AD203B41FA5}">
                      <a16:colId xmlns:a16="http://schemas.microsoft.com/office/drawing/2014/main" val="2001922003"/>
                    </a:ext>
                  </a:extLst>
                </a:gridCol>
                <a:gridCol w="734860">
                  <a:extLst>
                    <a:ext uri="{9D8B030D-6E8A-4147-A177-3AD203B41FA5}">
                      <a16:colId xmlns:a16="http://schemas.microsoft.com/office/drawing/2014/main" val="390632579"/>
                    </a:ext>
                  </a:extLst>
                </a:gridCol>
              </a:tblGrid>
              <a:tr h="18542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Wet Season Baseflow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66334237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822570304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wet_bfl_dur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119.5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191.5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206.2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08650954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wet_bfl_mag_10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344.77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526.7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849.4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1378.1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1534.72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31549596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wet_bfl_mag_50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1427.8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2153.5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3002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4654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5658.8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913679859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wet_tim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44.2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121.5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137.8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22079616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4F6EDC51-2314-4974-8B86-35B50EC2E7B5}"/>
              </a:ext>
            </a:extLst>
          </p:cNvPr>
          <p:cNvSpPr/>
          <p:nvPr/>
        </p:nvSpPr>
        <p:spPr>
          <a:xfrm>
            <a:off x="4419600" y="4927220"/>
            <a:ext cx="448674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Approximate Flow Volume required for adjusted p50:  893 </a:t>
            </a:r>
            <a:r>
              <a:rPr lang="en-US" dirty="0" err="1"/>
              <a:t>af</a:t>
            </a:r>
            <a:r>
              <a:rPr lang="en-US" dirty="0"/>
              <a:t> per day</a:t>
            </a:r>
          </a:p>
          <a:p>
            <a:r>
              <a:rPr lang="en-US" dirty="0"/>
              <a:t>Feb 1 – Apr 30:  80 </a:t>
            </a:r>
            <a:r>
              <a:rPr lang="en-US" dirty="0" err="1"/>
              <a:t>taf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A0A6D6-CD3B-443B-BDEB-8242BCB67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25700"/>
              </p:ext>
            </p:extLst>
          </p:nvPr>
        </p:nvGraphicFramePr>
        <p:xfrm>
          <a:off x="237651" y="5763151"/>
          <a:ext cx="3530982" cy="8919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86">
                  <a:extLst>
                    <a:ext uri="{9D8B030D-6E8A-4147-A177-3AD203B41FA5}">
                      <a16:colId xmlns:a16="http://schemas.microsoft.com/office/drawing/2014/main" val="2585146888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421487917"/>
                    </a:ext>
                  </a:extLst>
                </a:gridCol>
                <a:gridCol w="729343">
                  <a:extLst>
                    <a:ext uri="{9D8B030D-6E8A-4147-A177-3AD203B41FA5}">
                      <a16:colId xmlns:a16="http://schemas.microsoft.com/office/drawing/2014/main" val="2274626480"/>
                    </a:ext>
                  </a:extLst>
                </a:gridCol>
                <a:gridCol w="707572">
                  <a:extLst>
                    <a:ext uri="{9D8B030D-6E8A-4147-A177-3AD203B41FA5}">
                      <a16:colId xmlns:a16="http://schemas.microsoft.com/office/drawing/2014/main" val="1771747700"/>
                    </a:ext>
                  </a:extLst>
                </a:gridCol>
                <a:gridCol w="790015">
                  <a:extLst>
                    <a:ext uri="{9D8B030D-6E8A-4147-A177-3AD203B41FA5}">
                      <a16:colId xmlns:a16="http://schemas.microsoft.com/office/drawing/2014/main" val="2802642286"/>
                    </a:ext>
                  </a:extLst>
                </a:gridCol>
                <a:gridCol w="683566">
                  <a:extLst>
                    <a:ext uri="{9D8B030D-6E8A-4147-A177-3AD203B41FA5}">
                      <a16:colId xmlns:a16="http://schemas.microsoft.com/office/drawing/2014/main" val="163493766"/>
                    </a:ext>
                  </a:extLst>
                </a:gridCol>
              </a:tblGrid>
              <a:tr h="307929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75%</a:t>
                      </a:r>
                    </a:p>
                  </a:txBody>
                  <a:tcPr marL="5443" marR="5443" marT="5443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60%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55%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50%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50%</a:t>
                      </a: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323600495"/>
                  </a:ext>
                </a:extLst>
              </a:tr>
              <a:tr h="307929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400" b="1" u="none" strike="noStrike" dirty="0">
                          <a:effectLst/>
                          <a:latin typeface="+mn-lt"/>
                        </a:rPr>
                        <a:t>P10</a:t>
                      </a:r>
                    </a:p>
                  </a:txBody>
                  <a:tcPr marL="5443" marR="5443" marT="5443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P25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P50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P75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P90</a:t>
                      </a: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3037737574"/>
                  </a:ext>
                </a:extLst>
              </a:tr>
              <a:tr h="276058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315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450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650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750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254517750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145FA66-8A60-4C7B-B759-C1F3EF450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33" y="3429000"/>
            <a:ext cx="3582260" cy="170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460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E7D196-63A1-42CF-9B87-952B81196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12560"/>
          </a:xfrm>
        </p:spPr>
        <p:txBody>
          <a:bodyPr>
            <a:normAutofit fontScale="90000"/>
          </a:bodyPr>
          <a:lstStyle/>
          <a:p>
            <a:r>
              <a:rPr lang="en-US" dirty="0"/>
              <a:t>Spring Recession Flow – Tuolumne (La Grange)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D0B7064-0C8A-4EA0-A956-14D7BCBB2C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9857686"/>
              </p:ext>
            </p:extLst>
          </p:nvPr>
        </p:nvGraphicFramePr>
        <p:xfrm>
          <a:off x="152400" y="1799546"/>
          <a:ext cx="3886200" cy="1297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39">
                  <a:extLst>
                    <a:ext uri="{9D8B030D-6E8A-4147-A177-3AD203B41FA5}">
                      <a16:colId xmlns:a16="http://schemas.microsoft.com/office/drawing/2014/main" val="214856168"/>
                    </a:ext>
                  </a:extLst>
                </a:gridCol>
                <a:gridCol w="475439">
                  <a:extLst>
                    <a:ext uri="{9D8B030D-6E8A-4147-A177-3AD203B41FA5}">
                      <a16:colId xmlns:a16="http://schemas.microsoft.com/office/drawing/2014/main" val="1491341632"/>
                    </a:ext>
                  </a:extLst>
                </a:gridCol>
                <a:gridCol w="475439">
                  <a:extLst>
                    <a:ext uri="{9D8B030D-6E8A-4147-A177-3AD203B41FA5}">
                      <a16:colId xmlns:a16="http://schemas.microsoft.com/office/drawing/2014/main" val="1311006773"/>
                    </a:ext>
                  </a:extLst>
                </a:gridCol>
                <a:gridCol w="819961">
                  <a:extLst>
                    <a:ext uri="{9D8B030D-6E8A-4147-A177-3AD203B41FA5}">
                      <a16:colId xmlns:a16="http://schemas.microsoft.com/office/drawing/2014/main" val="1041028176"/>
                    </a:ext>
                  </a:extLst>
                </a:gridCol>
                <a:gridCol w="819961">
                  <a:extLst>
                    <a:ext uri="{9D8B030D-6E8A-4147-A177-3AD203B41FA5}">
                      <a16:colId xmlns:a16="http://schemas.microsoft.com/office/drawing/2014/main" val="2292001806"/>
                    </a:ext>
                  </a:extLst>
                </a:gridCol>
                <a:gridCol w="819961">
                  <a:extLst>
                    <a:ext uri="{9D8B030D-6E8A-4147-A177-3AD203B41FA5}">
                      <a16:colId xmlns:a16="http://schemas.microsoft.com/office/drawing/2014/main" val="3830277748"/>
                    </a:ext>
                  </a:extLst>
                </a:gridCol>
              </a:tblGrid>
              <a:tr h="18542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Spring Recession Flow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538835029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P50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92115174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sp_dur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40.2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52.5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65.5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43911382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sp_mag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4731.8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6501.5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11210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17165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20468.8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3739071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sp_roc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0.153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98545066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sp_tim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221.6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230.5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239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254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263.2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18744427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9-May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18-May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27-May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11-Jun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20-Jun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85309104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780BD87-0C43-4653-A24F-3C689EB0F642}"/>
              </a:ext>
            </a:extLst>
          </p:cNvPr>
          <p:cNvSpPr txBox="1"/>
          <p:nvPr/>
        </p:nvSpPr>
        <p:spPr>
          <a:xfrm flipH="1">
            <a:off x="152400" y="1375786"/>
            <a:ext cx="369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DWR</a:t>
            </a:r>
            <a:r>
              <a:rPr lang="en-US" dirty="0"/>
              <a:t> Predicted FF Metrics – All years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747E9E-ED96-4514-AAF7-35108C45A545}"/>
              </a:ext>
            </a:extLst>
          </p:cNvPr>
          <p:cNvSpPr/>
          <p:nvPr/>
        </p:nvSpPr>
        <p:spPr>
          <a:xfrm>
            <a:off x="4345235" y="1443841"/>
            <a:ext cx="4572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Suggests adjusting spring magnitude to ~1000cfs - 9000cfs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Additional Rules: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Ramp down 7% all years – calculated ROC for DWS is incorrect due to daily modeling 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Ramp up at double recession rate (or 13%) (back calculate start date from recession start date)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Ramp rates account for duration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Timing – might be able to start ramp up at centroid timing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ACDB1E8-128B-4129-B083-A30E136835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419345"/>
              </p:ext>
            </p:extLst>
          </p:nvPr>
        </p:nvGraphicFramePr>
        <p:xfrm>
          <a:off x="226765" y="5763151"/>
          <a:ext cx="3530982" cy="5839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86">
                  <a:extLst>
                    <a:ext uri="{9D8B030D-6E8A-4147-A177-3AD203B41FA5}">
                      <a16:colId xmlns:a16="http://schemas.microsoft.com/office/drawing/2014/main" val="2585146888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421487917"/>
                    </a:ext>
                  </a:extLst>
                </a:gridCol>
                <a:gridCol w="729343">
                  <a:extLst>
                    <a:ext uri="{9D8B030D-6E8A-4147-A177-3AD203B41FA5}">
                      <a16:colId xmlns:a16="http://schemas.microsoft.com/office/drawing/2014/main" val="2274626480"/>
                    </a:ext>
                  </a:extLst>
                </a:gridCol>
                <a:gridCol w="707572">
                  <a:extLst>
                    <a:ext uri="{9D8B030D-6E8A-4147-A177-3AD203B41FA5}">
                      <a16:colId xmlns:a16="http://schemas.microsoft.com/office/drawing/2014/main" val="1771747700"/>
                    </a:ext>
                  </a:extLst>
                </a:gridCol>
                <a:gridCol w="790015">
                  <a:extLst>
                    <a:ext uri="{9D8B030D-6E8A-4147-A177-3AD203B41FA5}">
                      <a16:colId xmlns:a16="http://schemas.microsoft.com/office/drawing/2014/main" val="2802642286"/>
                    </a:ext>
                  </a:extLst>
                </a:gridCol>
                <a:gridCol w="683566">
                  <a:extLst>
                    <a:ext uri="{9D8B030D-6E8A-4147-A177-3AD203B41FA5}">
                      <a16:colId xmlns:a16="http://schemas.microsoft.com/office/drawing/2014/main" val="163493766"/>
                    </a:ext>
                  </a:extLst>
                </a:gridCol>
              </a:tblGrid>
              <a:tr h="307929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P10</a:t>
                      </a:r>
                    </a:p>
                  </a:txBody>
                  <a:tcPr marL="5443" marR="5443" marT="5443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P25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p50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p75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P90</a:t>
                      </a: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323600495"/>
                  </a:ext>
                </a:extLst>
              </a:tr>
              <a:tr h="276058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1250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3000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7000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8500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25451775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293092D-EE5A-452E-9B18-47DA9A3EBE10}"/>
              </a:ext>
            </a:extLst>
          </p:cNvPr>
          <p:cNvSpPr txBox="1"/>
          <p:nvPr/>
        </p:nvSpPr>
        <p:spPr>
          <a:xfrm flipH="1">
            <a:off x="142773" y="5297548"/>
            <a:ext cx="369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Adjusted Spring Mag – All years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BE9415-A41E-4D8D-9845-1A30FA3D997D}"/>
              </a:ext>
            </a:extLst>
          </p:cNvPr>
          <p:cNvSpPr/>
          <p:nvPr/>
        </p:nvSpPr>
        <p:spPr>
          <a:xfrm>
            <a:off x="4345235" y="5201277"/>
            <a:ext cx="457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Approximate Flow Volume required for adjusted p50:</a:t>
            </a:r>
          </a:p>
          <a:p>
            <a:r>
              <a:rPr lang="en-US" dirty="0"/>
              <a:t>spring ramp down: 175 </a:t>
            </a:r>
            <a:r>
              <a:rPr lang="en-US" dirty="0" err="1"/>
              <a:t>taf</a:t>
            </a:r>
            <a:endParaRPr lang="en-US" dirty="0"/>
          </a:p>
          <a:p>
            <a:r>
              <a:rPr lang="en-US" dirty="0"/>
              <a:t>spring ramp up: 75 </a:t>
            </a:r>
            <a:r>
              <a:rPr lang="en-US" dirty="0" err="1"/>
              <a:t>taf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098CD9-57DA-471B-A21F-E6F99D140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83" y="3317164"/>
            <a:ext cx="3188484" cy="189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406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E7D196-63A1-42CF-9B87-952B81196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43355"/>
            <a:ext cx="7886700" cy="712560"/>
          </a:xfrm>
        </p:spPr>
        <p:txBody>
          <a:bodyPr>
            <a:normAutofit/>
          </a:bodyPr>
          <a:lstStyle/>
          <a:p>
            <a:r>
              <a:rPr lang="en-US" dirty="0"/>
              <a:t>Dry Season Baseflow – Tuolumne (La Grange)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80BD87-0C43-4653-A24F-3C689EB0F642}"/>
              </a:ext>
            </a:extLst>
          </p:cNvPr>
          <p:cNvSpPr txBox="1"/>
          <p:nvPr/>
        </p:nvSpPr>
        <p:spPr>
          <a:xfrm flipH="1">
            <a:off x="152400" y="1375786"/>
            <a:ext cx="369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DWR</a:t>
            </a:r>
            <a:r>
              <a:rPr lang="en-US" dirty="0"/>
              <a:t> Predicted FF Metrics – All years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747E9E-ED96-4514-AAF7-35108C45A545}"/>
              </a:ext>
            </a:extLst>
          </p:cNvPr>
          <p:cNvSpPr/>
          <p:nvPr/>
        </p:nvSpPr>
        <p:spPr>
          <a:xfrm>
            <a:off x="4923086" y="1138604"/>
            <a:ext cx="406851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Suggests adjusting dry season magnitude to ~ 100% mag-50</a:t>
            </a:r>
          </a:p>
          <a:p>
            <a:endParaRPr lang="en-US" dirty="0"/>
          </a:p>
          <a:p>
            <a:r>
              <a:rPr lang="en-US" dirty="0"/>
              <a:t>Additional Rules: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Continues from end of spring ramp down until Oct 1 (and/or fall pulse)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8A0BC67-A47D-41A6-B782-B13E4DADD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197389"/>
              </p:ext>
            </p:extLst>
          </p:nvPr>
        </p:nvGraphicFramePr>
        <p:xfrm>
          <a:off x="237651" y="1852553"/>
          <a:ext cx="4406898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1470">
                  <a:extLst>
                    <a:ext uri="{9D8B030D-6E8A-4147-A177-3AD203B41FA5}">
                      <a16:colId xmlns:a16="http://schemas.microsoft.com/office/drawing/2014/main" val="3710506092"/>
                    </a:ext>
                  </a:extLst>
                </a:gridCol>
                <a:gridCol w="459508">
                  <a:extLst>
                    <a:ext uri="{9D8B030D-6E8A-4147-A177-3AD203B41FA5}">
                      <a16:colId xmlns:a16="http://schemas.microsoft.com/office/drawing/2014/main" val="3588697199"/>
                    </a:ext>
                  </a:extLst>
                </a:gridCol>
                <a:gridCol w="796480">
                  <a:extLst>
                    <a:ext uri="{9D8B030D-6E8A-4147-A177-3AD203B41FA5}">
                      <a16:colId xmlns:a16="http://schemas.microsoft.com/office/drawing/2014/main" val="1193331045"/>
                    </a:ext>
                  </a:extLst>
                </a:gridCol>
                <a:gridCol w="796480">
                  <a:extLst>
                    <a:ext uri="{9D8B030D-6E8A-4147-A177-3AD203B41FA5}">
                      <a16:colId xmlns:a16="http://schemas.microsoft.com/office/drawing/2014/main" val="622150439"/>
                    </a:ext>
                  </a:extLst>
                </a:gridCol>
                <a:gridCol w="796480">
                  <a:extLst>
                    <a:ext uri="{9D8B030D-6E8A-4147-A177-3AD203B41FA5}">
                      <a16:colId xmlns:a16="http://schemas.microsoft.com/office/drawing/2014/main" val="2204508960"/>
                    </a:ext>
                  </a:extLst>
                </a:gridCol>
                <a:gridCol w="796480">
                  <a:extLst>
                    <a:ext uri="{9D8B030D-6E8A-4147-A177-3AD203B41FA5}">
                      <a16:colId xmlns:a16="http://schemas.microsoft.com/office/drawing/2014/main" val="3148678141"/>
                    </a:ext>
                  </a:extLst>
                </a:gridCol>
              </a:tblGrid>
              <a:tr h="18542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Dry Season baseflow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25692697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56014396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ds_dur_ws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117.8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171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179.5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196.2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01708133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ds_mag_50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160.18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177.47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333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383.5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447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97725321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ds_mag_90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373.81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590.5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928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1250.9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1565.2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10369029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ds_tim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272.8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282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316</a:t>
                      </a: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327.4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91697114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253A611-D8D0-4DFC-ADAB-EFF50112659A}"/>
              </a:ext>
            </a:extLst>
          </p:cNvPr>
          <p:cNvSpPr/>
          <p:nvPr/>
        </p:nvSpPr>
        <p:spPr>
          <a:xfrm>
            <a:off x="4504851" y="4420385"/>
            <a:ext cx="448674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Approximate Flow Volume required for adjusted p50  July 1 – Oct 1: </a:t>
            </a:r>
          </a:p>
          <a:p>
            <a:r>
              <a:rPr lang="en-US" dirty="0"/>
              <a:t>- Flow is approximately 350 </a:t>
            </a:r>
            <a:r>
              <a:rPr lang="en-US" dirty="0" err="1"/>
              <a:t>cfs</a:t>
            </a:r>
            <a:r>
              <a:rPr lang="en-US" dirty="0"/>
              <a:t> baseline, no extra water needed</a:t>
            </a:r>
          </a:p>
          <a:p>
            <a:r>
              <a:rPr lang="en-US" dirty="0"/>
              <a:t>- full p50 (330 </a:t>
            </a:r>
            <a:r>
              <a:rPr lang="en-US" dirty="0" err="1"/>
              <a:t>cfs</a:t>
            </a:r>
            <a:r>
              <a:rPr lang="en-US" dirty="0"/>
              <a:t>) = 60 </a:t>
            </a:r>
            <a:r>
              <a:rPr lang="en-US" dirty="0" err="1"/>
              <a:t>taf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AF66DB-8A26-4FB7-9FCF-933CC9F767F3}"/>
              </a:ext>
            </a:extLst>
          </p:cNvPr>
          <p:cNvSpPr txBox="1"/>
          <p:nvPr/>
        </p:nvSpPr>
        <p:spPr>
          <a:xfrm flipH="1">
            <a:off x="142772" y="5297548"/>
            <a:ext cx="4168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Adjusted Dry Season (Mag_50) (scale %) 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8D6CFD9-50E1-4A5C-978B-9AE79428E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306004"/>
              </p:ext>
            </p:extLst>
          </p:nvPr>
        </p:nvGraphicFramePr>
        <p:xfrm>
          <a:off x="237651" y="5763151"/>
          <a:ext cx="3530982" cy="8919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86">
                  <a:extLst>
                    <a:ext uri="{9D8B030D-6E8A-4147-A177-3AD203B41FA5}">
                      <a16:colId xmlns:a16="http://schemas.microsoft.com/office/drawing/2014/main" val="2585146888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421487917"/>
                    </a:ext>
                  </a:extLst>
                </a:gridCol>
                <a:gridCol w="729343">
                  <a:extLst>
                    <a:ext uri="{9D8B030D-6E8A-4147-A177-3AD203B41FA5}">
                      <a16:colId xmlns:a16="http://schemas.microsoft.com/office/drawing/2014/main" val="2274626480"/>
                    </a:ext>
                  </a:extLst>
                </a:gridCol>
                <a:gridCol w="707572">
                  <a:extLst>
                    <a:ext uri="{9D8B030D-6E8A-4147-A177-3AD203B41FA5}">
                      <a16:colId xmlns:a16="http://schemas.microsoft.com/office/drawing/2014/main" val="1771747700"/>
                    </a:ext>
                  </a:extLst>
                </a:gridCol>
                <a:gridCol w="790015">
                  <a:extLst>
                    <a:ext uri="{9D8B030D-6E8A-4147-A177-3AD203B41FA5}">
                      <a16:colId xmlns:a16="http://schemas.microsoft.com/office/drawing/2014/main" val="2802642286"/>
                    </a:ext>
                  </a:extLst>
                </a:gridCol>
                <a:gridCol w="683566">
                  <a:extLst>
                    <a:ext uri="{9D8B030D-6E8A-4147-A177-3AD203B41FA5}">
                      <a16:colId xmlns:a16="http://schemas.microsoft.com/office/drawing/2014/main" val="163493766"/>
                    </a:ext>
                  </a:extLst>
                </a:gridCol>
              </a:tblGrid>
              <a:tr h="307929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5443" marR="5443" marT="5443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120%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323600495"/>
                  </a:ext>
                </a:extLst>
              </a:tr>
              <a:tr h="307929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P10</a:t>
                      </a:r>
                    </a:p>
                  </a:txBody>
                  <a:tcPr marL="5443" marR="5443" marT="5443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P25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P50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P75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P90</a:t>
                      </a: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3037737574"/>
                  </a:ext>
                </a:extLst>
              </a:tr>
              <a:tr h="276058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160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215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330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395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450</a:t>
                      </a: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254517750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5113F8B1-A58E-49FD-9E89-65AF9A014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58" y="3329617"/>
            <a:ext cx="3365284" cy="160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667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D2395-4D47-49DD-A2BD-AE72B7084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41160"/>
          </a:xfrm>
        </p:spPr>
        <p:txBody>
          <a:bodyPr/>
          <a:lstStyle/>
          <a:p>
            <a:r>
              <a:rPr lang="en-US" dirty="0"/>
              <a:t>Tuolumne Estimated FF Volumes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C3CDA-097A-446F-B338-B12A67BA2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2018 WY (average) - 40% unimpaired Feb-June = 512 </a:t>
            </a:r>
            <a:r>
              <a:rPr lang="en-US" dirty="0" err="1"/>
              <a:t>taf</a:t>
            </a:r>
            <a:endParaRPr lang="en-US" dirty="0"/>
          </a:p>
          <a:p>
            <a:r>
              <a:rPr lang="en-US" dirty="0"/>
              <a:t>Spring pulse (p50) ramp up/down may 15 - June 30 = 250 </a:t>
            </a:r>
            <a:r>
              <a:rPr lang="en-US" dirty="0" err="1"/>
              <a:t>taf</a:t>
            </a:r>
            <a:endParaRPr lang="en-US" dirty="0"/>
          </a:p>
          <a:p>
            <a:r>
              <a:rPr lang="en-US" dirty="0"/>
              <a:t>wet season baseflow (p50) </a:t>
            </a:r>
            <a:r>
              <a:rPr lang="en-US" dirty="0" err="1"/>
              <a:t>feb-apr</a:t>
            </a:r>
            <a:r>
              <a:rPr lang="en-US" dirty="0"/>
              <a:t> = 80-100 </a:t>
            </a:r>
            <a:r>
              <a:rPr lang="en-US" dirty="0" err="1"/>
              <a:t>taf</a:t>
            </a:r>
            <a:endParaRPr lang="en-US" dirty="0"/>
          </a:p>
          <a:p>
            <a:r>
              <a:rPr lang="en-US" dirty="0"/>
              <a:t>fall pulse flow (p50) = 10-15 </a:t>
            </a:r>
            <a:r>
              <a:rPr lang="en-US" dirty="0" err="1"/>
              <a:t>taf</a:t>
            </a:r>
            <a:endParaRPr lang="en-US" dirty="0"/>
          </a:p>
          <a:p>
            <a:r>
              <a:rPr lang="en-US" dirty="0"/>
              <a:t>summer baseflow (extra 100 </a:t>
            </a:r>
            <a:r>
              <a:rPr lang="en-US" dirty="0" err="1"/>
              <a:t>cfs</a:t>
            </a:r>
            <a:r>
              <a:rPr lang="en-US" dirty="0"/>
              <a:t> per day over 350 </a:t>
            </a:r>
            <a:r>
              <a:rPr lang="en-US" dirty="0" err="1"/>
              <a:t>cfs</a:t>
            </a:r>
            <a:r>
              <a:rPr lang="en-US" dirty="0"/>
              <a:t> baseline) July 1-Oct 1 = 18 </a:t>
            </a:r>
            <a:r>
              <a:rPr lang="en-US" dirty="0" err="1"/>
              <a:t>taf</a:t>
            </a:r>
            <a:endParaRPr lang="en-US" dirty="0"/>
          </a:p>
          <a:p>
            <a:r>
              <a:rPr lang="en-US" dirty="0"/>
              <a:t>summer baseflow (p50 = 330) July 1-Oct 1 = 60-65 </a:t>
            </a:r>
            <a:r>
              <a:rPr lang="en-US" dirty="0" err="1"/>
              <a:t>taf</a:t>
            </a:r>
            <a:endParaRPr lang="en-US" dirty="0"/>
          </a:p>
          <a:p>
            <a:r>
              <a:rPr lang="en-US" dirty="0"/>
              <a:t>TOTAL baseflows + spring pulse/recession flow + fall pulse flow (Feb 1 – Oct 15) ~ 400-430 </a:t>
            </a:r>
            <a:r>
              <a:rPr lang="en-US" dirty="0" err="1"/>
              <a:t>taf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963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E7D196-63A1-42CF-9B87-952B81196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43355"/>
            <a:ext cx="7886700" cy="712560"/>
          </a:xfrm>
        </p:spPr>
        <p:txBody>
          <a:bodyPr>
            <a:normAutofit fontScale="90000"/>
          </a:bodyPr>
          <a:lstStyle/>
          <a:p>
            <a:r>
              <a:rPr lang="en-US" dirty="0"/>
              <a:t>Spring Recession Flow – Tuolumne (La Grange)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D0B7064-0C8A-4EA0-A956-14D7BCBB2C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9594292"/>
              </p:ext>
            </p:extLst>
          </p:nvPr>
        </p:nvGraphicFramePr>
        <p:xfrm>
          <a:off x="152400" y="1799546"/>
          <a:ext cx="3886200" cy="1297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39">
                  <a:extLst>
                    <a:ext uri="{9D8B030D-6E8A-4147-A177-3AD203B41FA5}">
                      <a16:colId xmlns:a16="http://schemas.microsoft.com/office/drawing/2014/main" val="214856168"/>
                    </a:ext>
                  </a:extLst>
                </a:gridCol>
                <a:gridCol w="475439">
                  <a:extLst>
                    <a:ext uri="{9D8B030D-6E8A-4147-A177-3AD203B41FA5}">
                      <a16:colId xmlns:a16="http://schemas.microsoft.com/office/drawing/2014/main" val="1491341632"/>
                    </a:ext>
                  </a:extLst>
                </a:gridCol>
                <a:gridCol w="475439">
                  <a:extLst>
                    <a:ext uri="{9D8B030D-6E8A-4147-A177-3AD203B41FA5}">
                      <a16:colId xmlns:a16="http://schemas.microsoft.com/office/drawing/2014/main" val="1311006773"/>
                    </a:ext>
                  </a:extLst>
                </a:gridCol>
                <a:gridCol w="819961">
                  <a:extLst>
                    <a:ext uri="{9D8B030D-6E8A-4147-A177-3AD203B41FA5}">
                      <a16:colId xmlns:a16="http://schemas.microsoft.com/office/drawing/2014/main" val="1041028176"/>
                    </a:ext>
                  </a:extLst>
                </a:gridCol>
                <a:gridCol w="819961">
                  <a:extLst>
                    <a:ext uri="{9D8B030D-6E8A-4147-A177-3AD203B41FA5}">
                      <a16:colId xmlns:a16="http://schemas.microsoft.com/office/drawing/2014/main" val="2292001806"/>
                    </a:ext>
                  </a:extLst>
                </a:gridCol>
                <a:gridCol w="819961">
                  <a:extLst>
                    <a:ext uri="{9D8B030D-6E8A-4147-A177-3AD203B41FA5}">
                      <a16:colId xmlns:a16="http://schemas.microsoft.com/office/drawing/2014/main" val="3830277748"/>
                    </a:ext>
                  </a:extLst>
                </a:gridCol>
              </a:tblGrid>
              <a:tr h="18542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Spring Recession Flow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538835029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92115174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sp_dur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44.7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64.0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78.6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100.7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43911382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sp_mag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5381.9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7048.0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9277.6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13413.3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21034.5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3739071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sp_roc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0.057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98545066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sp_tim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211.7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227.2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239.0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246.0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254.5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18744427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30-Apr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27-May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12-Jun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85309104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780BD87-0C43-4653-A24F-3C689EB0F642}"/>
              </a:ext>
            </a:extLst>
          </p:cNvPr>
          <p:cNvSpPr txBox="1"/>
          <p:nvPr/>
        </p:nvSpPr>
        <p:spPr>
          <a:xfrm flipH="1">
            <a:off x="152400" y="1375786"/>
            <a:ext cx="369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TNC Predicted FF Metrics – All years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747E9E-ED96-4514-AAF7-35108C45A545}"/>
              </a:ext>
            </a:extLst>
          </p:cNvPr>
          <p:cNvSpPr/>
          <p:nvPr/>
        </p:nvSpPr>
        <p:spPr>
          <a:xfrm>
            <a:off x="4388436" y="1436332"/>
            <a:ext cx="4572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Channel Capacity Info: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Overbank flow occurs at 1,100-3,200 </a:t>
            </a:r>
            <a:r>
              <a:rPr lang="en-US" dirty="0" err="1"/>
              <a:t>cfs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Maximum flow for power generation is 5,500 </a:t>
            </a:r>
            <a:r>
              <a:rPr lang="en-US" dirty="0" err="1"/>
              <a:t>cfs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Channel capacity through downtown Modesto is 10,000 </a:t>
            </a:r>
            <a:r>
              <a:rPr lang="en-US" dirty="0" err="1"/>
              <a:t>cfs</a:t>
            </a:r>
            <a:r>
              <a:rPr lang="en-US" dirty="0"/>
              <a:t>; army </a:t>
            </a:r>
            <a:r>
              <a:rPr lang="en-US" dirty="0" err="1"/>
              <a:t>corp</a:t>
            </a:r>
            <a:r>
              <a:rPr lang="en-US" dirty="0"/>
              <a:t> uses 9k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Channel capacity for entire river is 15,000 </a:t>
            </a:r>
            <a:r>
              <a:rPr lang="en-US" dirty="0" err="1"/>
              <a:t>cfs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Extensive flooding occurs at 40,000 </a:t>
            </a:r>
            <a:r>
              <a:rPr lang="en-US" dirty="0" err="1"/>
              <a:t>cfs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Gravel transport in upper reaches begins at 7,000-9,800 </a:t>
            </a:r>
            <a:r>
              <a:rPr lang="en-US" dirty="0" err="1"/>
              <a:t>cfs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Overbank habitat for juvenile salmonids increases most rapidly 1,000-3,000 </a:t>
            </a:r>
            <a:r>
              <a:rPr lang="en-US" dirty="0" err="1"/>
              <a:t>cfs</a:t>
            </a:r>
            <a:r>
              <a:rPr lang="en-US" dirty="0"/>
              <a:t>; increases up to 5,000 </a:t>
            </a:r>
            <a:r>
              <a:rPr lang="en-US" dirty="0" err="1"/>
              <a:t>cfs</a:t>
            </a:r>
            <a:r>
              <a:rPr lang="en-US" dirty="0"/>
              <a:t> (max flow modeled).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Suggests adjusting spring magnitude to 1000cfs - 9000cfs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ACDB1E8-128B-4129-B083-A30E136835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236021"/>
              </p:ext>
            </p:extLst>
          </p:nvPr>
        </p:nvGraphicFramePr>
        <p:xfrm>
          <a:off x="226765" y="5763151"/>
          <a:ext cx="3530982" cy="5839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86">
                  <a:extLst>
                    <a:ext uri="{9D8B030D-6E8A-4147-A177-3AD203B41FA5}">
                      <a16:colId xmlns:a16="http://schemas.microsoft.com/office/drawing/2014/main" val="2585146888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421487917"/>
                    </a:ext>
                  </a:extLst>
                </a:gridCol>
                <a:gridCol w="729343">
                  <a:extLst>
                    <a:ext uri="{9D8B030D-6E8A-4147-A177-3AD203B41FA5}">
                      <a16:colId xmlns:a16="http://schemas.microsoft.com/office/drawing/2014/main" val="2274626480"/>
                    </a:ext>
                  </a:extLst>
                </a:gridCol>
                <a:gridCol w="707572">
                  <a:extLst>
                    <a:ext uri="{9D8B030D-6E8A-4147-A177-3AD203B41FA5}">
                      <a16:colId xmlns:a16="http://schemas.microsoft.com/office/drawing/2014/main" val="1771747700"/>
                    </a:ext>
                  </a:extLst>
                </a:gridCol>
                <a:gridCol w="790015">
                  <a:extLst>
                    <a:ext uri="{9D8B030D-6E8A-4147-A177-3AD203B41FA5}">
                      <a16:colId xmlns:a16="http://schemas.microsoft.com/office/drawing/2014/main" val="2802642286"/>
                    </a:ext>
                  </a:extLst>
                </a:gridCol>
                <a:gridCol w="683566">
                  <a:extLst>
                    <a:ext uri="{9D8B030D-6E8A-4147-A177-3AD203B41FA5}">
                      <a16:colId xmlns:a16="http://schemas.microsoft.com/office/drawing/2014/main" val="163493766"/>
                    </a:ext>
                  </a:extLst>
                </a:gridCol>
              </a:tblGrid>
              <a:tr h="307929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P10</a:t>
                      </a:r>
                    </a:p>
                  </a:txBody>
                  <a:tcPr marL="5443" marR="5443" marT="5443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P25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p50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p75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P90</a:t>
                      </a: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323600495"/>
                  </a:ext>
                </a:extLst>
              </a:tr>
              <a:tr h="276058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1221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2668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4460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6843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9209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25451775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293092D-EE5A-452E-9B18-47DA9A3EBE10}"/>
              </a:ext>
            </a:extLst>
          </p:cNvPr>
          <p:cNvSpPr txBox="1"/>
          <p:nvPr/>
        </p:nvSpPr>
        <p:spPr>
          <a:xfrm flipH="1">
            <a:off x="142773" y="5297548"/>
            <a:ext cx="369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Adjusted Spring Mag – All years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1542DB-DE27-46D6-834F-C126546C3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63" y="3302041"/>
            <a:ext cx="3188484" cy="188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220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E7D196-63A1-42CF-9B87-952B81196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12560"/>
          </a:xfrm>
        </p:spPr>
        <p:txBody>
          <a:bodyPr>
            <a:normAutofit fontScale="90000"/>
          </a:bodyPr>
          <a:lstStyle/>
          <a:p>
            <a:r>
              <a:rPr lang="en-US" dirty="0"/>
              <a:t>Spring Recession Flow – Tuolumne (La Grange)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D0B7064-0C8A-4EA0-A956-14D7BCBB2C2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2400" y="1799546"/>
          <a:ext cx="3886200" cy="1297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39">
                  <a:extLst>
                    <a:ext uri="{9D8B030D-6E8A-4147-A177-3AD203B41FA5}">
                      <a16:colId xmlns:a16="http://schemas.microsoft.com/office/drawing/2014/main" val="214856168"/>
                    </a:ext>
                  </a:extLst>
                </a:gridCol>
                <a:gridCol w="475439">
                  <a:extLst>
                    <a:ext uri="{9D8B030D-6E8A-4147-A177-3AD203B41FA5}">
                      <a16:colId xmlns:a16="http://schemas.microsoft.com/office/drawing/2014/main" val="1491341632"/>
                    </a:ext>
                  </a:extLst>
                </a:gridCol>
                <a:gridCol w="475439">
                  <a:extLst>
                    <a:ext uri="{9D8B030D-6E8A-4147-A177-3AD203B41FA5}">
                      <a16:colId xmlns:a16="http://schemas.microsoft.com/office/drawing/2014/main" val="1311006773"/>
                    </a:ext>
                  </a:extLst>
                </a:gridCol>
                <a:gridCol w="819961">
                  <a:extLst>
                    <a:ext uri="{9D8B030D-6E8A-4147-A177-3AD203B41FA5}">
                      <a16:colId xmlns:a16="http://schemas.microsoft.com/office/drawing/2014/main" val="1041028176"/>
                    </a:ext>
                  </a:extLst>
                </a:gridCol>
                <a:gridCol w="819961">
                  <a:extLst>
                    <a:ext uri="{9D8B030D-6E8A-4147-A177-3AD203B41FA5}">
                      <a16:colId xmlns:a16="http://schemas.microsoft.com/office/drawing/2014/main" val="2292001806"/>
                    </a:ext>
                  </a:extLst>
                </a:gridCol>
                <a:gridCol w="819961">
                  <a:extLst>
                    <a:ext uri="{9D8B030D-6E8A-4147-A177-3AD203B41FA5}">
                      <a16:colId xmlns:a16="http://schemas.microsoft.com/office/drawing/2014/main" val="3830277748"/>
                    </a:ext>
                  </a:extLst>
                </a:gridCol>
              </a:tblGrid>
              <a:tr h="18542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Spring Recession Flow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538835029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92115174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sp_dur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44.7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64.0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78.6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100.7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43911382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sp_mag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5381.9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7048.0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9277.6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13413.3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21034.5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3739071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sp_roc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0.057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98545066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sp_tim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211.7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227.2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239.0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246.0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254.5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18744427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30-Apr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27-May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12-Jun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85309104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780BD87-0C43-4653-A24F-3C689EB0F642}"/>
              </a:ext>
            </a:extLst>
          </p:cNvPr>
          <p:cNvSpPr txBox="1"/>
          <p:nvPr/>
        </p:nvSpPr>
        <p:spPr>
          <a:xfrm flipH="1">
            <a:off x="152400" y="1375786"/>
            <a:ext cx="369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TNC Predicted FF Metrics – All years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747E9E-ED96-4514-AAF7-35108C45A545}"/>
              </a:ext>
            </a:extLst>
          </p:cNvPr>
          <p:cNvSpPr/>
          <p:nvPr/>
        </p:nvSpPr>
        <p:spPr>
          <a:xfrm>
            <a:off x="4345235" y="1560452"/>
            <a:ext cx="4572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Suggests adjusting spring magnitude to ~1000cfs - 9000cfs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Additional Rules: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Ramp down at recession rate (or 6% all years)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Ramp up at double recession rate (or 13%) (back calculate start date from recession start date)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Ramp rates account for duration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Timing – might be able to start ramp up at centroid timing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ACDB1E8-128B-4129-B083-A30E136835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820360"/>
              </p:ext>
            </p:extLst>
          </p:nvPr>
        </p:nvGraphicFramePr>
        <p:xfrm>
          <a:off x="226765" y="5763151"/>
          <a:ext cx="3530982" cy="5839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86">
                  <a:extLst>
                    <a:ext uri="{9D8B030D-6E8A-4147-A177-3AD203B41FA5}">
                      <a16:colId xmlns:a16="http://schemas.microsoft.com/office/drawing/2014/main" val="2585146888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421487917"/>
                    </a:ext>
                  </a:extLst>
                </a:gridCol>
                <a:gridCol w="729343">
                  <a:extLst>
                    <a:ext uri="{9D8B030D-6E8A-4147-A177-3AD203B41FA5}">
                      <a16:colId xmlns:a16="http://schemas.microsoft.com/office/drawing/2014/main" val="2274626480"/>
                    </a:ext>
                  </a:extLst>
                </a:gridCol>
                <a:gridCol w="707572">
                  <a:extLst>
                    <a:ext uri="{9D8B030D-6E8A-4147-A177-3AD203B41FA5}">
                      <a16:colId xmlns:a16="http://schemas.microsoft.com/office/drawing/2014/main" val="1771747700"/>
                    </a:ext>
                  </a:extLst>
                </a:gridCol>
                <a:gridCol w="790015">
                  <a:extLst>
                    <a:ext uri="{9D8B030D-6E8A-4147-A177-3AD203B41FA5}">
                      <a16:colId xmlns:a16="http://schemas.microsoft.com/office/drawing/2014/main" val="2802642286"/>
                    </a:ext>
                  </a:extLst>
                </a:gridCol>
                <a:gridCol w="683566">
                  <a:extLst>
                    <a:ext uri="{9D8B030D-6E8A-4147-A177-3AD203B41FA5}">
                      <a16:colId xmlns:a16="http://schemas.microsoft.com/office/drawing/2014/main" val="163493766"/>
                    </a:ext>
                  </a:extLst>
                </a:gridCol>
              </a:tblGrid>
              <a:tr h="307929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P10</a:t>
                      </a:r>
                    </a:p>
                  </a:txBody>
                  <a:tcPr marL="5443" marR="5443" marT="5443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P25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p50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p75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P90</a:t>
                      </a: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323600495"/>
                  </a:ext>
                </a:extLst>
              </a:tr>
              <a:tr h="276058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1221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2668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4460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6843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9209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25451775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293092D-EE5A-452E-9B18-47DA9A3EBE10}"/>
              </a:ext>
            </a:extLst>
          </p:cNvPr>
          <p:cNvSpPr txBox="1"/>
          <p:nvPr/>
        </p:nvSpPr>
        <p:spPr>
          <a:xfrm flipH="1">
            <a:off x="142773" y="5297548"/>
            <a:ext cx="369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Adjusted Spring Mag – All years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BE9415-A41E-4D8D-9845-1A30FA3D997D}"/>
              </a:ext>
            </a:extLst>
          </p:cNvPr>
          <p:cNvSpPr/>
          <p:nvPr/>
        </p:nvSpPr>
        <p:spPr>
          <a:xfrm>
            <a:off x="4345235" y="5201277"/>
            <a:ext cx="457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Approximate Flow Volume required for adjusted p50:</a:t>
            </a:r>
          </a:p>
          <a:p>
            <a:r>
              <a:rPr lang="en-US" dirty="0"/>
              <a:t>spring ramp down: 	175 </a:t>
            </a:r>
            <a:r>
              <a:rPr lang="en-US" dirty="0" err="1"/>
              <a:t>taf</a:t>
            </a:r>
            <a:endParaRPr lang="en-US" dirty="0"/>
          </a:p>
          <a:p>
            <a:r>
              <a:rPr lang="en-US" dirty="0"/>
              <a:t>spring ramp up: 75 </a:t>
            </a:r>
            <a:r>
              <a:rPr lang="en-US" dirty="0" err="1"/>
              <a:t>taf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F50778A-4430-4522-9F21-B3B609FEA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63" y="3302041"/>
            <a:ext cx="3188484" cy="188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283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E7D196-63A1-42CF-9B87-952B81196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1583"/>
            <a:ext cx="7886700" cy="712560"/>
          </a:xfrm>
        </p:spPr>
        <p:txBody>
          <a:bodyPr>
            <a:normAutofit/>
          </a:bodyPr>
          <a:lstStyle/>
          <a:p>
            <a:r>
              <a:rPr lang="en-US" dirty="0"/>
              <a:t>Wet Season Baseflow – Tuolumne (La Grange)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80BD87-0C43-4653-A24F-3C689EB0F642}"/>
              </a:ext>
            </a:extLst>
          </p:cNvPr>
          <p:cNvSpPr txBox="1"/>
          <p:nvPr/>
        </p:nvSpPr>
        <p:spPr>
          <a:xfrm flipH="1">
            <a:off x="152400" y="1375786"/>
            <a:ext cx="369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TNC Predicted FF Metrics – All years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747E9E-ED96-4514-AAF7-35108C45A545}"/>
              </a:ext>
            </a:extLst>
          </p:cNvPr>
          <p:cNvSpPr/>
          <p:nvPr/>
        </p:nvSpPr>
        <p:spPr>
          <a:xfrm>
            <a:off x="4644186" y="1034143"/>
            <a:ext cx="4505427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Fish Habitat Info: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naturally mag-50 is reached by mid-Feb (see </a:t>
            </a:r>
            <a:r>
              <a:rPr lang="en-US" dirty="0" err="1"/>
              <a:t>willis</a:t>
            </a:r>
            <a:r>
              <a:rPr lang="en-US" dirty="0"/>
              <a:t> et al paper)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current proposed Jan-Feb FERC flows = 225 </a:t>
            </a:r>
            <a:r>
              <a:rPr lang="en-US" dirty="0" err="1"/>
              <a:t>cfs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current proposed Oct 16-Dec FERC flows = 275 </a:t>
            </a:r>
            <a:r>
              <a:rPr lang="en-US" dirty="0" err="1"/>
              <a:t>cfs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Current FERC flows 150 </a:t>
            </a:r>
            <a:r>
              <a:rPr lang="en-US" dirty="0" err="1"/>
              <a:t>cfs</a:t>
            </a:r>
            <a:r>
              <a:rPr lang="en-US" dirty="0"/>
              <a:t> (BN, D) to 300 </a:t>
            </a:r>
            <a:r>
              <a:rPr lang="en-US" dirty="0" err="1"/>
              <a:t>cfs</a:t>
            </a:r>
            <a:r>
              <a:rPr lang="en-US" dirty="0"/>
              <a:t> (AN, 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Jan-Mar - spawning/rearing chinook; spawning/rearing steelhead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WUA </a:t>
            </a:r>
            <a:r>
              <a:rPr lang="en-US" dirty="0" err="1"/>
              <a:t>Omykiss</a:t>
            </a:r>
            <a:r>
              <a:rPr lang="en-US" dirty="0"/>
              <a:t> curves </a:t>
            </a:r>
            <a:r>
              <a:rPr lang="en-US" dirty="0" err="1"/>
              <a:t>Juv</a:t>
            </a:r>
            <a:r>
              <a:rPr lang="en-US" dirty="0"/>
              <a:t>:  100-500cfs (80%), 500-1000cfs (70%);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WUA </a:t>
            </a:r>
            <a:r>
              <a:rPr lang="en-US" dirty="0" err="1"/>
              <a:t>Omykiss</a:t>
            </a:r>
            <a:r>
              <a:rPr lang="en-US" dirty="0"/>
              <a:t> curve adult:  200-500 </a:t>
            </a:r>
            <a:r>
              <a:rPr lang="en-US" dirty="0" err="1"/>
              <a:t>cfs</a:t>
            </a:r>
            <a:r>
              <a:rPr lang="en-US" dirty="0"/>
              <a:t> (80-100%), &gt;500cfs (100%)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Assumes in channel flows only until spring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Suggests adjusting wet season magnitude to mag-10 or 50% mag-10 if flows are to stay in channel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ACDB1E8-128B-4129-B083-A30E136835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541572"/>
              </p:ext>
            </p:extLst>
          </p:nvPr>
        </p:nvGraphicFramePr>
        <p:xfrm>
          <a:off x="237651" y="5763151"/>
          <a:ext cx="3530982" cy="8919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86">
                  <a:extLst>
                    <a:ext uri="{9D8B030D-6E8A-4147-A177-3AD203B41FA5}">
                      <a16:colId xmlns:a16="http://schemas.microsoft.com/office/drawing/2014/main" val="2585146888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421487917"/>
                    </a:ext>
                  </a:extLst>
                </a:gridCol>
                <a:gridCol w="729343">
                  <a:extLst>
                    <a:ext uri="{9D8B030D-6E8A-4147-A177-3AD203B41FA5}">
                      <a16:colId xmlns:a16="http://schemas.microsoft.com/office/drawing/2014/main" val="2274626480"/>
                    </a:ext>
                  </a:extLst>
                </a:gridCol>
                <a:gridCol w="707572">
                  <a:extLst>
                    <a:ext uri="{9D8B030D-6E8A-4147-A177-3AD203B41FA5}">
                      <a16:colId xmlns:a16="http://schemas.microsoft.com/office/drawing/2014/main" val="1771747700"/>
                    </a:ext>
                  </a:extLst>
                </a:gridCol>
                <a:gridCol w="790015">
                  <a:extLst>
                    <a:ext uri="{9D8B030D-6E8A-4147-A177-3AD203B41FA5}">
                      <a16:colId xmlns:a16="http://schemas.microsoft.com/office/drawing/2014/main" val="2802642286"/>
                    </a:ext>
                  </a:extLst>
                </a:gridCol>
                <a:gridCol w="683566">
                  <a:extLst>
                    <a:ext uri="{9D8B030D-6E8A-4147-A177-3AD203B41FA5}">
                      <a16:colId xmlns:a16="http://schemas.microsoft.com/office/drawing/2014/main" val="163493766"/>
                    </a:ext>
                  </a:extLst>
                </a:gridCol>
              </a:tblGrid>
              <a:tr h="307929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70%</a:t>
                      </a:r>
                    </a:p>
                  </a:txBody>
                  <a:tcPr marL="5443" marR="5443" marT="5443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60%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55%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50%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50%</a:t>
                      </a: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323600495"/>
                  </a:ext>
                </a:extLst>
              </a:tr>
              <a:tr h="307929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P10</a:t>
                      </a:r>
                    </a:p>
                  </a:txBody>
                  <a:tcPr marL="5443" marR="5443" marT="5443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P25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P50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P75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P90</a:t>
                      </a: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3037737574"/>
                  </a:ext>
                </a:extLst>
              </a:tr>
              <a:tr h="276058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326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438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550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714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878</a:t>
                      </a: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25451775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293092D-EE5A-452E-9B18-47DA9A3EBE10}"/>
              </a:ext>
            </a:extLst>
          </p:cNvPr>
          <p:cNvSpPr txBox="1"/>
          <p:nvPr/>
        </p:nvSpPr>
        <p:spPr>
          <a:xfrm flipH="1">
            <a:off x="142772" y="5297548"/>
            <a:ext cx="4168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Adjusted Wet Season (Mag_10) (scaled %)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B9EF18F-8FD8-4060-B1CD-E4F170FC3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048456"/>
              </p:ext>
            </p:extLst>
          </p:nvPr>
        </p:nvGraphicFramePr>
        <p:xfrm>
          <a:off x="226765" y="1791956"/>
          <a:ext cx="4168322" cy="14231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2787">
                  <a:extLst>
                    <a:ext uri="{9D8B030D-6E8A-4147-A177-3AD203B41FA5}">
                      <a16:colId xmlns:a16="http://schemas.microsoft.com/office/drawing/2014/main" val="240585961"/>
                    </a:ext>
                  </a:extLst>
                </a:gridCol>
                <a:gridCol w="426095">
                  <a:extLst>
                    <a:ext uri="{9D8B030D-6E8A-4147-A177-3AD203B41FA5}">
                      <a16:colId xmlns:a16="http://schemas.microsoft.com/office/drawing/2014/main" val="3592981924"/>
                    </a:ext>
                  </a:extLst>
                </a:gridCol>
                <a:gridCol w="734860">
                  <a:extLst>
                    <a:ext uri="{9D8B030D-6E8A-4147-A177-3AD203B41FA5}">
                      <a16:colId xmlns:a16="http://schemas.microsoft.com/office/drawing/2014/main" val="313138336"/>
                    </a:ext>
                  </a:extLst>
                </a:gridCol>
                <a:gridCol w="734860">
                  <a:extLst>
                    <a:ext uri="{9D8B030D-6E8A-4147-A177-3AD203B41FA5}">
                      <a16:colId xmlns:a16="http://schemas.microsoft.com/office/drawing/2014/main" val="867856289"/>
                    </a:ext>
                  </a:extLst>
                </a:gridCol>
                <a:gridCol w="734860">
                  <a:extLst>
                    <a:ext uri="{9D8B030D-6E8A-4147-A177-3AD203B41FA5}">
                      <a16:colId xmlns:a16="http://schemas.microsoft.com/office/drawing/2014/main" val="2001922003"/>
                    </a:ext>
                  </a:extLst>
                </a:gridCol>
                <a:gridCol w="734860">
                  <a:extLst>
                    <a:ext uri="{9D8B030D-6E8A-4147-A177-3AD203B41FA5}">
                      <a16:colId xmlns:a16="http://schemas.microsoft.com/office/drawing/2014/main" val="390632579"/>
                    </a:ext>
                  </a:extLst>
                </a:gridCol>
              </a:tblGrid>
              <a:tr h="18542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Wet Season Baseflow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66334237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822570304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wet_bfl_dur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71.4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95.2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127.4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158.5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185.3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08650954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wet_bfl_mag_10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651.5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877.0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1100.4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1427.4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1755.0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31549596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wet_bfl_mag_50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1808.9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2405.3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3131.9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4035.9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5113.4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913679859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wet_tim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48.4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75.5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94.7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114.5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136.6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220796161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0D47707B-6CBC-4CDA-8536-42236E920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454621"/>
            <a:ext cx="3365284" cy="160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507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E7D196-63A1-42CF-9B87-952B81196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43355"/>
            <a:ext cx="7886700" cy="712560"/>
          </a:xfrm>
        </p:spPr>
        <p:txBody>
          <a:bodyPr>
            <a:normAutofit/>
          </a:bodyPr>
          <a:lstStyle/>
          <a:p>
            <a:r>
              <a:rPr lang="en-US" dirty="0"/>
              <a:t>Wet Season Baseflow – Tuolumne (La Grange)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80BD87-0C43-4653-A24F-3C689EB0F642}"/>
              </a:ext>
            </a:extLst>
          </p:cNvPr>
          <p:cNvSpPr txBox="1"/>
          <p:nvPr/>
        </p:nvSpPr>
        <p:spPr>
          <a:xfrm flipH="1">
            <a:off x="152400" y="1375786"/>
            <a:ext cx="369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TNC Predicted FF Metrics – All years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747E9E-ED96-4514-AAF7-35108C45A545}"/>
              </a:ext>
            </a:extLst>
          </p:cNvPr>
          <p:cNvSpPr/>
          <p:nvPr/>
        </p:nvSpPr>
        <p:spPr>
          <a:xfrm>
            <a:off x="4748915" y="1225689"/>
            <a:ext cx="406851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Suggests adjusting wet season magnitude to mag-10 or 50% mag-10 if flows are to stay in channel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r>
              <a:rPr lang="en-US" dirty="0"/>
              <a:t>Additional Rules: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Continues from Feb 1 until spring recession ramp up date, which is back-calculated from spring recession magnitude start date. (ramp up approximately 2 weeks)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93092D-EE5A-452E-9B18-47DA9A3EBE10}"/>
              </a:ext>
            </a:extLst>
          </p:cNvPr>
          <p:cNvSpPr txBox="1"/>
          <p:nvPr/>
        </p:nvSpPr>
        <p:spPr>
          <a:xfrm flipH="1">
            <a:off x="142772" y="5297548"/>
            <a:ext cx="4168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Adjusted Wet Season (Mag_10) (scaled %)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B9EF18F-8FD8-4060-B1CD-E4F170FC3989}"/>
              </a:ext>
            </a:extLst>
          </p:cNvPr>
          <p:cNvGraphicFramePr>
            <a:graphicFrameLocks noGrp="1"/>
          </p:cNvGraphicFramePr>
          <p:nvPr/>
        </p:nvGraphicFramePr>
        <p:xfrm>
          <a:off x="226765" y="1791956"/>
          <a:ext cx="4168322" cy="14231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2787">
                  <a:extLst>
                    <a:ext uri="{9D8B030D-6E8A-4147-A177-3AD203B41FA5}">
                      <a16:colId xmlns:a16="http://schemas.microsoft.com/office/drawing/2014/main" val="240585961"/>
                    </a:ext>
                  </a:extLst>
                </a:gridCol>
                <a:gridCol w="426095">
                  <a:extLst>
                    <a:ext uri="{9D8B030D-6E8A-4147-A177-3AD203B41FA5}">
                      <a16:colId xmlns:a16="http://schemas.microsoft.com/office/drawing/2014/main" val="3592981924"/>
                    </a:ext>
                  </a:extLst>
                </a:gridCol>
                <a:gridCol w="734860">
                  <a:extLst>
                    <a:ext uri="{9D8B030D-6E8A-4147-A177-3AD203B41FA5}">
                      <a16:colId xmlns:a16="http://schemas.microsoft.com/office/drawing/2014/main" val="313138336"/>
                    </a:ext>
                  </a:extLst>
                </a:gridCol>
                <a:gridCol w="734860">
                  <a:extLst>
                    <a:ext uri="{9D8B030D-6E8A-4147-A177-3AD203B41FA5}">
                      <a16:colId xmlns:a16="http://schemas.microsoft.com/office/drawing/2014/main" val="867856289"/>
                    </a:ext>
                  </a:extLst>
                </a:gridCol>
                <a:gridCol w="734860">
                  <a:extLst>
                    <a:ext uri="{9D8B030D-6E8A-4147-A177-3AD203B41FA5}">
                      <a16:colId xmlns:a16="http://schemas.microsoft.com/office/drawing/2014/main" val="2001922003"/>
                    </a:ext>
                  </a:extLst>
                </a:gridCol>
                <a:gridCol w="734860">
                  <a:extLst>
                    <a:ext uri="{9D8B030D-6E8A-4147-A177-3AD203B41FA5}">
                      <a16:colId xmlns:a16="http://schemas.microsoft.com/office/drawing/2014/main" val="390632579"/>
                    </a:ext>
                  </a:extLst>
                </a:gridCol>
              </a:tblGrid>
              <a:tr h="18542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Wet Season Baseflow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66334237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822570304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wet_bfl_dur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71.4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95.2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127.4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158.5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185.3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08650954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wet_bfl_mag_10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651.5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877.0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1100.4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1427.4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1755.0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31549596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wet_bfl_mag_50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1808.9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2405.3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3131.9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4035.9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5113.4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913679859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wet_tim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48.4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75.5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94.7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114.5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136.6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222079616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4F6EDC51-2314-4974-8B86-35B50EC2E7B5}"/>
              </a:ext>
            </a:extLst>
          </p:cNvPr>
          <p:cNvSpPr/>
          <p:nvPr/>
        </p:nvSpPr>
        <p:spPr>
          <a:xfrm>
            <a:off x="4419600" y="4927220"/>
            <a:ext cx="448674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Approximate Flow Volume required for adjusted p50:</a:t>
            </a:r>
          </a:p>
          <a:p>
            <a:r>
              <a:rPr lang="en-US" dirty="0"/>
              <a:t>Feb 1 – Apr 30: 107 </a:t>
            </a:r>
            <a:r>
              <a:rPr lang="en-US" dirty="0" err="1"/>
              <a:t>taf</a:t>
            </a:r>
            <a:endParaRPr lang="en-US" dirty="0"/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C69AEF-F6EC-4C7C-BF19-260C0253A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439886"/>
            <a:ext cx="3365284" cy="1603387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A0A6D6-CD3B-443B-BDEB-8242BCB67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091476"/>
              </p:ext>
            </p:extLst>
          </p:nvPr>
        </p:nvGraphicFramePr>
        <p:xfrm>
          <a:off x="237651" y="5763151"/>
          <a:ext cx="3530982" cy="8919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86">
                  <a:extLst>
                    <a:ext uri="{9D8B030D-6E8A-4147-A177-3AD203B41FA5}">
                      <a16:colId xmlns:a16="http://schemas.microsoft.com/office/drawing/2014/main" val="2585146888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421487917"/>
                    </a:ext>
                  </a:extLst>
                </a:gridCol>
                <a:gridCol w="729343">
                  <a:extLst>
                    <a:ext uri="{9D8B030D-6E8A-4147-A177-3AD203B41FA5}">
                      <a16:colId xmlns:a16="http://schemas.microsoft.com/office/drawing/2014/main" val="2274626480"/>
                    </a:ext>
                  </a:extLst>
                </a:gridCol>
                <a:gridCol w="707572">
                  <a:extLst>
                    <a:ext uri="{9D8B030D-6E8A-4147-A177-3AD203B41FA5}">
                      <a16:colId xmlns:a16="http://schemas.microsoft.com/office/drawing/2014/main" val="1771747700"/>
                    </a:ext>
                  </a:extLst>
                </a:gridCol>
                <a:gridCol w="790015">
                  <a:extLst>
                    <a:ext uri="{9D8B030D-6E8A-4147-A177-3AD203B41FA5}">
                      <a16:colId xmlns:a16="http://schemas.microsoft.com/office/drawing/2014/main" val="2802642286"/>
                    </a:ext>
                  </a:extLst>
                </a:gridCol>
                <a:gridCol w="683566">
                  <a:extLst>
                    <a:ext uri="{9D8B030D-6E8A-4147-A177-3AD203B41FA5}">
                      <a16:colId xmlns:a16="http://schemas.microsoft.com/office/drawing/2014/main" val="163493766"/>
                    </a:ext>
                  </a:extLst>
                </a:gridCol>
              </a:tblGrid>
              <a:tr h="307929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70%</a:t>
                      </a:r>
                    </a:p>
                  </a:txBody>
                  <a:tcPr marL="5443" marR="5443" marT="5443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60%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55%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50%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50%</a:t>
                      </a: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323600495"/>
                  </a:ext>
                </a:extLst>
              </a:tr>
              <a:tr h="307929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P10</a:t>
                      </a:r>
                    </a:p>
                  </a:txBody>
                  <a:tcPr marL="5443" marR="5443" marT="5443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P25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P50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P75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P90</a:t>
                      </a: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3037737574"/>
                  </a:ext>
                </a:extLst>
              </a:tr>
              <a:tr h="276058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326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438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550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714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878</a:t>
                      </a: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254517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4592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E7D196-63A1-42CF-9B87-952B81196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43355"/>
            <a:ext cx="7886700" cy="712560"/>
          </a:xfrm>
        </p:spPr>
        <p:txBody>
          <a:bodyPr>
            <a:normAutofit/>
          </a:bodyPr>
          <a:lstStyle/>
          <a:p>
            <a:r>
              <a:rPr lang="en-US" dirty="0"/>
              <a:t>Dry Season Baseflow – Tuolumne (La Grange)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80BD87-0C43-4653-A24F-3C689EB0F642}"/>
              </a:ext>
            </a:extLst>
          </p:cNvPr>
          <p:cNvSpPr txBox="1"/>
          <p:nvPr/>
        </p:nvSpPr>
        <p:spPr>
          <a:xfrm flipH="1">
            <a:off x="152400" y="1375786"/>
            <a:ext cx="369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TNC Predicted FF Metrics – All years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747E9E-ED96-4514-AAF7-35108C45A545}"/>
              </a:ext>
            </a:extLst>
          </p:cNvPr>
          <p:cNvSpPr/>
          <p:nvPr/>
        </p:nvSpPr>
        <p:spPr>
          <a:xfrm>
            <a:off x="4923086" y="1138604"/>
            <a:ext cx="4068514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Fish Habitat Info: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Summer (July-Sept) flows between 100-250 </a:t>
            </a:r>
            <a:r>
              <a:rPr lang="en-US" dirty="0" err="1"/>
              <a:t>cfs</a:t>
            </a:r>
            <a:r>
              <a:rPr lang="en-US" dirty="0"/>
              <a:t> maintain rearing/spawning habitat to RM 43, with 175 </a:t>
            </a:r>
            <a:r>
              <a:rPr lang="en-US" dirty="0" err="1"/>
              <a:t>cfs</a:t>
            </a:r>
            <a:r>
              <a:rPr lang="en-US" dirty="0"/>
              <a:t> or greater maintaining temps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FERC Proposed 350 </a:t>
            </a:r>
            <a:r>
              <a:rPr lang="en-US" dirty="0" err="1"/>
              <a:t>cfs</a:t>
            </a:r>
            <a:r>
              <a:rPr lang="en-US" dirty="0"/>
              <a:t> at La Grange Gage and 150 </a:t>
            </a:r>
            <a:r>
              <a:rPr lang="en-US" dirty="0" err="1"/>
              <a:t>cfs</a:t>
            </a:r>
            <a:r>
              <a:rPr lang="en-US" dirty="0"/>
              <a:t> at RM 25.5 (below diversion dam)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Current FERC flows are 75 </a:t>
            </a:r>
            <a:r>
              <a:rPr lang="en-US" dirty="0" err="1"/>
              <a:t>cfs</a:t>
            </a:r>
            <a:r>
              <a:rPr lang="en-US" dirty="0"/>
              <a:t> (BN, D) &amp; 250cfs (AN, 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Jul-Oct - rearing, adult migration, need temps to be 18C or less ideally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Flows &gt;400 </a:t>
            </a:r>
            <a:r>
              <a:rPr lang="en-US" dirty="0" err="1"/>
              <a:t>cfs</a:t>
            </a:r>
            <a:r>
              <a:rPr lang="en-US" dirty="0"/>
              <a:t> keep temps &lt;20C to RM 39 (la grange at RM 52)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Suggests adjusting dry season magnitude to 100% mag-50 or 75% mag-50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93092D-EE5A-452E-9B18-47DA9A3EBE10}"/>
              </a:ext>
            </a:extLst>
          </p:cNvPr>
          <p:cNvSpPr txBox="1"/>
          <p:nvPr/>
        </p:nvSpPr>
        <p:spPr>
          <a:xfrm flipH="1">
            <a:off x="142772" y="5297548"/>
            <a:ext cx="4168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Adjusted Dry Season (Mag_50) (scale %)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8A0BC67-A47D-41A6-B782-B13E4DADD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124282"/>
              </p:ext>
            </p:extLst>
          </p:nvPr>
        </p:nvGraphicFramePr>
        <p:xfrm>
          <a:off x="237651" y="1852553"/>
          <a:ext cx="4406898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1470">
                  <a:extLst>
                    <a:ext uri="{9D8B030D-6E8A-4147-A177-3AD203B41FA5}">
                      <a16:colId xmlns:a16="http://schemas.microsoft.com/office/drawing/2014/main" val="3710506092"/>
                    </a:ext>
                  </a:extLst>
                </a:gridCol>
                <a:gridCol w="459508">
                  <a:extLst>
                    <a:ext uri="{9D8B030D-6E8A-4147-A177-3AD203B41FA5}">
                      <a16:colId xmlns:a16="http://schemas.microsoft.com/office/drawing/2014/main" val="3588697199"/>
                    </a:ext>
                  </a:extLst>
                </a:gridCol>
                <a:gridCol w="796480">
                  <a:extLst>
                    <a:ext uri="{9D8B030D-6E8A-4147-A177-3AD203B41FA5}">
                      <a16:colId xmlns:a16="http://schemas.microsoft.com/office/drawing/2014/main" val="1193331045"/>
                    </a:ext>
                  </a:extLst>
                </a:gridCol>
                <a:gridCol w="796480">
                  <a:extLst>
                    <a:ext uri="{9D8B030D-6E8A-4147-A177-3AD203B41FA5}">
                      <a16:colId xmlns:a16="http://schemas.microsoft.com/office/drawing/2014/main" val="622150439"/>
                    </a:ext>
                  </a:extLst>
                </a:gridCol>
                <a:gridCol w="796480">
                  <a:extLst>
                    <a:ext uri="{9D8B030D-6E8A-4147-A177-3AD203B41FA5}">
                      <a16:colId xmlns:a16="http://schemas.microsoft.com/office/drawing/2014/main" val="2204508960"/>
                    </a:ext>
                  </a:extLst>
                </a:gridCol>
                <a:gridCol w="796480">
                  <a:extLst>
                    <a:ext uri="{9D8B030D-6E8A-4147-A177-3AD203B41FA5}">
                      <a16:colId xmlns:a16="http://schemas.microsoft.com/office/drawing/2014/main" val="3148678141"/>
                    </a:ext>
                  </a:extLst>
                </a:gridCol>
              </a:tblGrid>
              <a:tr h="18542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Dry Season baseflow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25692697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56014396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ds_dur_ws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108.5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131.1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160.6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187.2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214.9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01708133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ds_mag_50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190.9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324.7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528.0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688.4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862.6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97725321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ds_mag_90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383.3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580.7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902.7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1277.0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1678.4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10369029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ds_tim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283.2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291.8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302.0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315.4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333.6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91697114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534EE6B-B03D-47F6-8F22-4C0987136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58" y="3275899"/>
            <a:ext cx="3365284" cy="1603387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AD0401-D48A-40B6-A3F3-C8AAE5DF5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66920"/>
              </p:ext>
            </p:extLst>
          </p:nvPr>
        </p:nvGraphicFramePr>
        <p:xfrm>
          <a:off x="237651" y="5763151"/>
          <a:ext cx="3530982" cy="8919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86">
                  <a:extLst>
                    <a:ext uri="{9D8B030D-6E8A-4147-A177-3AD203B41FA5}">
                      <a16:colId xmlns:a16="http://schemas.microsoft.com/office/drawing/2014/main" val="2585146888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421487917"/>
                    </a:ext>
                  </a:extLst>
                </a:gridCol>
                <a:gridCol w="729343">
                  <a:extLst>
                    <a:ext uri="{9D8B030D-6E8A-4147-A177-3AD203B41FA5}">
                      <a16:colId xmlns:a16="http://schemas.microsoft.com/office/drawing/2014/main" val="2274626480"/>
                    </a:ext>
                  </a:extLst>
                </a:gridCol>
                <a:gridCol w="707572">
                  <a:extLst>
                    <a:ext uri="{9D8B030D-6E8A-4147-A177-3AD203B41FA5}">
                      <a16:colId xmlns:a16="http://schemas.microsoft.com/office/drawing/2014/main" val="1771747700"/>
                    </a:ext>
                  </a:extLst>
                </a:gridCol>
                <a:gridCol w="790015">
                  <a:extLst>
                    <a:ext uri="{9D8B030D-6E8A-4147-A177-3AD203B41FA5}">
                      <a16:colId xmlns:a16="http://schemas.microsoft.com/office/drawing/2014/main" val="2802642286"/>
                    </a:ext>
                  </a:extLst>
                </a:gridCol>
                <a:gridCol w="683566">
                  <a:extLst>
                    <a:ext uri="{9D8B030D-6E8A-4147-A177-3AD203B41FA5}">
                      <a16:colId xmlns:a16="http://schemas.microsoft.com/office/drawing/2014/main" val="163493766"/>
                    </a:ext>
                  </a:extLst>
                </a:gridCol>
              </a:tblGrid>
              <a:tr h="307929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5443" marR="5443" marT="5443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85%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75%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75%</a:t>
                      </a: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323600495"/>
                  </a:ext>
                </a:extLst>
              </a:tr>
              <a:tr h="307929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P10</a:t>
                      </a:r>
                    </a:p>
                  </a:txBody>
                  <a:tcPr marL="5443" marR="5443" marT="5443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P25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P50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P75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P90</a:t>
                      </a: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3037737574"/>
                  </a:ext>
                </a:extLst>
              </a:tr>
              <a:tr h="276058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191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325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449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516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647</a:t>
                      </a: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254517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723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E7D196-63A1-42CF-9B87-952B81196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43355"/>
            <a:ext cx="7886700" cy="712560"/>
          </a:xfrm>
        </p:spPr>
        <p:txBody>
          <a:bodyPr>
            <a:normAutofit/>
          </a:bodyPr>
          <a:lstStyle/>
          <a:p>
            <a:r>
              <a:rPr lang="en-US" dirty="0"/>
              <a:t>Dry Season Baseflow – Tuolumne (La Grange)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80BD87-0C43-4653-A24F-3C689EB0F642}"/>
              </a:ext>
            </a:extLst>
          </p:cNvPr>
          <p:cNvSpPr txBox="1"/>
          <p:nvPr/>
        </p:nvSpPr>
        <p:spPr>
          <a:xfrm flipH="1">
            <a:off x="152400" y="1375786"/>
            <a:ext cx="3698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TNC Predicted FF Metrics – All years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747E9E-ED96-4514-AAF7-35108C45A545}"/>
              </a:ext>
            </a:extLst>
          </p:cNvPr>
          <p:cNvSpPr/>
          <p:nvPr/>
        </p:nvSpPr>
        <p:spPr>
          <a:xfrm>
            <a:off x="4923086" y="1138604"/>
            <a:ext cx="406851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Suggests adjusting dry season magnitude to 100% mag-50 or 75% mag-50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r>
              <a:rPr lang="en-US" dirty="0"/>
              <a:t>Additional Rules: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Continues from end of spring ramp down until Oct 1 (and/or fall pulse)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8A0BC67-A47D-41A6-B782-B13E4DADDDD0}"/>
              </a:ext>
            </a:extLst>
          </p:cNvPr>
          <p:cNvGraphicFramePr>
            <a:graphicFrameLocks noGrp="1"/>
          </p:cNvGraphicFramePr>
          <p:nvPr/>
        </p:nvGraphicFramePr>
        <p:xfrm>
          <a:off x="237651" y="1852553"/>
          <a:ext cx="4406898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1470">
                  <a:extLst>
                    <a:ext uri="{9D8B030D-6E8A-4147-A177-3AD203B41FA5}">
                      <a16:colId xmlns:a16="http://schemas.microsoft.com/office/drawing/2014/main" val="3710506092"/>
                    </a:ext>
                  </a:extLst>
                </a:gridCol>
                <a:gridCol w="459508">
                  <a:extLst>
                    <a:ext uri="{9D8B030D-6E8A-4147-A177-3AD203B41FA5}">
                      <a16:colId xmlns:a16="http://schemas.microsoft.com/office/drawing/2014/main" val="3588697199"/>
                    </a:ext>
                  </a:extLst>
                </a:gridCol>
                <a:gridCol w="796480">
                  <a:extLst>
                    <a:ext uri="{9D8B030D-6E8A-4147-A177-3AD203B41FA5}">
                      <a16:colId xmlns:a16="http://schemas.microsoft.com/office/drawing/2014/main" val="1193331045"/>
                    </a:ext>
                  </a:extLst>
                </a:gridCol>
                <a:gridCol w="796480">
                  <a:extLst>
                    <a:ext uri="{9D8B030D-6E8A-4147-A177-3AD203B41FA5}">
                      <a16:colId xmlns:a16="http://schemas.microsoft.com/office/drawing/2014/main" val="622150439"/>
                    </a:ext>
                  </a:extLst>
                </a:gridCol>
                <a:gridCol w="796480">
                  <a:extLst>
                    <a:ext uri="{9D8B030D-6E8A-4147-A177-3AD203B41FA5}">
                      <a16:colId xmlns:a16="http://schemas.microsoft.com/office/drawing/2014/main" val="2204508960"/>
                    </a:ext>
                  </a:extLst>
                </a:gridCol>
                <a:gridCol w="796480">
                  <a:extLst>
                    <a:ext uri="{9D8B030D-6E8A-4147-A177-3AD203B41FA5}">
                      <a16:colId xmlns:a16="http://schemas.microsoft.com/office/drawing/2014/main" val="3148678141"/>
                    </a:ext>
                  </a:extLst>
                </a:gridCol>
              </a:tblGrid>
              <a:tr h="18542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Dry Season baseflow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25692697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56014396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ds_dur_ws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108.5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131.1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160.6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187.2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214.9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01708133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ds_mag_50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190.9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324.7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528.0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688.4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862.6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97725321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ds_mag_90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383.3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580.7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902.7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1277.0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1678.4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10369029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ds_tim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283.2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291.8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302.0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315.4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333.6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91697114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253A611-D8D0-4DFC-ADAB-EFF50112659A}"/>
              </a:ext>
            </a:extLst>
          </p:cNvPr>
          <p:cNvSpPr/>
          <p:nvPr/>
        </p:nvSpPr>
        <p:spPr>
          <a:xfrm>
            <a:off x="4504851" y="4420385"/>
            <a:ext cx="448674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Approximate Flow Volume required for adjusted p50</a:t>
            </a:r>
          </a:p>
          <a:p>
            <a:r>
              <a:rPr lang="en-US" dirty="0"/>
              <a:t>July 1 – Oct 1: </a:t>
            </a:r>
          </a:p>
          <a:p>
            <a:r>
              <a:rPr lang="en-US" dirty="0"/>
              <a:t>- extra 100 </a:t>
            </a:r>
            <a:r>
              <a:rPr lang="en-US" dirty="0" err="1"/>
              <a:t>cfs</a:t>
            </a:r>
            <a:r>
              <a:rPr lang="en-US" dirty="0"/>
              <a:t> per day over 350 </a:t>
            </a:r>
            <a:r>
              <a:rPr lang="en-US" dirty="0" err="1"/>
              <a:t>cfs</a:t>
            </a:r>
            <a:r>
              <a:rPr lang="en-US" dirty="0"/>
              <a:t> baseline = 18 </a:t>
            </a:r>
            <a:r>
              <a:rPr lang="en-US" dirty="0" err="1"/>
              <a:t>taf</a:t>
            </a:r>
            <a:endParaRPr lang="en-US" dirty="0"/>
          </a:p>
          <a:p>
            <a:r>
              <a:rPr lang="en-US" dirty="0"/>
              <a:t>- full p50 (450 </a:t>
            </a:r>
            <a:r>
              <a:rPr lang="en-US" dirty="0" err="1"/>
              <a:t>cfs</a:t>
            </a:r>
            <a:r>
              <a:rPr lang="en-US" dirty="0"/>
              <a:t>) = 82 </a:t>
            </a:r>
            <a:r>
              <a:rPr lang="en-US" dirty="0" err="1"/>
              <a:t>taf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AF66DB-8A26-4FB7-9FCF-933CC9F767F3}"/>
              </a:ext>
            </a:extLst>
          </p:cNvPr>
          <p:cNvSpPr txBox="1"/>
          <p:nvPr/>
        </p:nvSpPr>
        <p:spPr>
          <a:xfrm flipH="1">
            <a:off x="142772" y="5297548"/>
            <a:ext cx="4168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Adjusted Dry Season (Mag_50) (scale %)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C4D30B9-CBB2-4FA4-B76C-101095B8F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58" y="3275899"/>
            <a:ext cx="3365284" cy="1603387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8D6CFD9-50E1-4A5C-978B-9AE79428E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729522"/>
              </p:ext>
            </p:extLst>
          </p:nvPr>
        </p:nvGraphicFramePr>
        <p:xfrm>
          <a:off x="237651" y="5763151"/>
          <a:ext cx="3530982" cy="8919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86">
                  <a:extLst>
                    <a:ext uri="{9D8B030D-6E8A-4147-A177-3AD203B41FA5}">
                      <a16:colId xmlns:a16="http://schemas.microsoft.com/office/drawing/2014/main" val="2585146888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421487917"/>
                    </a:ext>
                  </a:extLst>
                </a:gridCol>
                <a:gridCol w="729343">
                  <a:extLst>
                    <a:ext uri="{9D8B030D-6E8A-4147-A177-3AD203B41FA5}">
                      <a16:colId xmlns:a16="http://schemas.microsoft.com/office/drawing/2014/main" val="2274626480"/>
                    </a:ext>
                  </a:extLst>
                </a:gridCol>
                <a:gridCol w="707572">
                  <a:extLst>
                    <a:ext uri="{9D8B030D-6E8A-4147-A177-3AD203B41FA5}">
                      <a16:colId xmlns:a16="http://schemas.microsoft.com/office/drawing/2014/main" val="1771747700"/>
                    </a:ext>
                  </a:extLst>
                </a:gridCol>
                <a:gridCol w="790015">
                  <a:extLst>
                    <a:ext uri="{9D8B030D-6E8A-4147-A177-3AD203B41FA5}">
                      <a16:colId xmlns:a16="http://schemas.microsoft.com/office/drawing/2014/main" val="2802642286"/>
                    </a:ext>
                  </a:extLst>
                </a:gridCol>
                <a:gridCol w="683566">
                  <a:extLst>
                    <a:ext uri="{9D8B030D-6E8A-4147-A177-3AD203B41FA5}">
                      <a16:colId xmlns:a16="http://schemas.microsoft.com/office/drawing/2014/main" val="163493766"/>
                    </a:ext>
                  </a:extLst>
                </a:gridCol>
              </a:tblGrid>
              <a:tr h="307929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5443" marR="5443" marT="5443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85%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75%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75%</a:t>
                      </a: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323600495"/>
                  </a:ext>
                </a:extLst>
              </a:tr>
              <a:tr h="307929"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P10</a:t>
                      </a:r>
                    </a:p>
                  </a:txBody>
                  <a:tcPr marL="5443" marR="5443" marT="5443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P25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P50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P75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P90</a:t>
                      </a: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3037737574"/>
                  </a:ext>
                </a:extLst>
              </a:tr>
              <a:tr h="276058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191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325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449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516</a:t>
                      </a:r>
                    </a:p>
                  </a:txBody>
                  <a:tcPr marL="5443" marR="5443" marT="5443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647</a:t>
                      </a:r>
                    </a:p>
                  </a:txBody>
                  <a:tcPr marL="5443" marR="5443" marT="5443" marB="0" anchor="ctr"/>
                </a:tc>
                <a:extLst>
                  <a:ext uri="{0D108BD9-81ED-4DB2-BD59-A6C34878D82A}">
                    <a16:rowId xmlns:a16="http://schemas.microsoft.com/office/drawing/2014/main" val="2254517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2037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A1969-0D3E-4073-A19B-6D87AF2EA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3188"/>
          </a:xfrm>
        </p:spPr>
        <p:txBody>
          <a:bodyPr>
            <a:normAutofit fontScale="90000"/>
          </a:bodyPr>
          <a:lstStyle/>
          <a:p>
            <a:r>
              <a:rPr lang="en-US" dirty="0"/>
              <a:t>Rule set for implementing FF metrics/criteria </a:t>
            </a:r>
            <a:br>
              <a:rPr lang="en-US" dirty="0"/>
            </a:br>
            <a:r>
              <a:rPr lang="en-US" sz="2700" dirty="0"/>
              <a:t>(Willis et al. FES)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6F0DA0-726E-46F0-AB57-D4A149122C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400664"/>
            <a:ext cx="7992836" cy="509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253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A1969-0D3E-4073-A19B-6D87AF2EA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7440"/>
            <a:ext cx="7886700" cy="843188"/>
          </a:xfrm>
        </p:spPr>
        <p:txBody>
          <a:bodyPr/>
          <a:lstStyle/>
          <a:p>
            <a:r>
              <a:rPr lang="en-US" dirty="0"/>
              <a:t>Modeled E-flow Scenarios (Willis et al. FES)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86B779E-751E-45E3-BE9A-F49957559D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3749" y="1309150"/>
            <a:ext cx="4177623" cy="5548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E458EC-4230-4A61-984B-5D626440B0CD}"/>
              </a:ext>
            </a:extLst>
          </p:cNvPr>
          <p:cNvSpPr txBox="1"/>
          <p:nvPr/>
        </p:nvSpPr>
        <p:spPr>
          <a:xfrm flipH="1">
            <a:off x="715348" y="990628"/>
            <a:ext cx="3274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Merced River – </a:t>
            </a:r>
            <a:r>
              <a:rPr lang="en-US" dirty="0" err="1"/>
              <a:t>Eflow</a:t>
            </a:r>
            <a:r>
              <a:rPr lang="en-US" dirty="0"/>
              <a:t> Scenarios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46C534-1F38-4D3E-BEA0-F1186B6F902E}"/>
              </a:ext>
            </a:extLst>
          </p:cNvPr>
          <p:cNvSpPr txBox="1"/>
          <p:nvPr/>
        </p:nvSpPr>
        <p:spPr>
          <a:xfrm flipH="1">
            <a:off x="4974336" y="990628"/>
            <a:ext cx="3421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Tuolumne River – </a:t>
            </a:r>
            <a:r>
              <a:rPr lang="en-US" dirty="0" err="1"/>
              <a:t>Eflow</a:t>
            </a:r>
            <a:r>
              <a:rPr lang="en-US" dirty="0"/>
              <a:t> Scenarios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CFD0A0-E7B7-43F6-9E74-EDE77429A50F}"/>
              </a:ext>
            </a:extLst>
          </p:cNvPr>
          <p:cNvSpPr txBox="1"/>
          <p:nvPr/>
        </p:nvSpPr>
        <p:spPr>
          <a:xfrm flipH="1">
            <a:off x="4730791" y="6035918"/>
            <a:ext cx="2920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0-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BD48FEC-0717-4F8D-A951-A5C186BF698C}"/>
              </a:ext>
            </a:extLst>
          </p:cNvPr>
          <p:cNvGrpSpPr/>
          <p:nvPr/>
        </p:nvGrpSpPr>
        <p:grpSpPr>
          <a:xfrm>
            <a:off x="4533980" y="1359960"/>
            <a:ext cx="3943341" cy="5391603"/>
            <a:chOff x="4533980" y="1359960"/>
            <a:chExt cx="3943341" cy="5391603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4FC63B7-1027-4293-B2CF-DE968FE87B5B}"/>
                </a:ext>
              </a:extLst>
            </p:cNvPr>
            <p:cNvGrpSpPr/>
            <p:nvPr/>
          </p:nvGrpSpPr>
          <p:grpSpPr>
            <a:xfrm>
              <a:off x="4533980" y="1359960"/>
              <a:ext cx="3943341" cy="5391603"/>
              <a:chOff x="4533980" y="1359960"/>
              <a:chExt cx="3943341" cy="5391603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A9FCBA14-113A-415F-B0B8-770974D15C06}"/>
                  </a:ext>
                </a:extLst>
              </p:cNvPr>
              <p:cNvGrpSpPr/>
              <p:nvPr/>
            </p:nvGrpSpPr>
            <p:grpSpPr>
              <a:xfrm>
                <a:off x="4533980" y="1359960"/>
                <a:ext cx="3943341" cy="5391603"/>
                <a:chOff x="4533980" y="1359960"/>
                <a:chExt cx="3943341" cy="5391603"/>
              </a:xfrm>
            </p:grpSpPr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380F28AF-1819-42ED-B8E4-DB49FEA1E7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2826" t="26982" r="43149" b="8068"/>
                <a:stretch/>
              </p:blipFill>
              <p:spPr>
                <a:xfrm>
                  <a:off x="4892388" y="4897045"/>
                  <a:ext cx="3584933" cy="1515866"/>
                </a:xfrm>
                <a:prstGeom prst="rect">
                  <a:avLst/>
                </a:prstGeom>
              </p:spPr>
            </p:pic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D177F31-0089-40BA-892D-57F3C939B9D5}"/>
                    </a:ext>
                  </a:extLst>
                </p:cNvPr>
                <p:cNvSpPr txBox="1"/>
                <p:nvPr/>
              </p:nvSpPr>
              <p:spPr>
                <a:xfrm>
                  <a:off x="5861290" y="6358412"/>
                  <a:ext cx="93862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/>
                    <a:t>2008-01-01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E65855A-28BA-4744-B85E-C82F01AD59E1}"/>
                    </a:ext>
                  </a:extLst>
                </p:cNvPr>
                <p:cNvSpPr txBox="1"/>
                <p:nvPr/>
              </p:nvSpPr>
              <p:spPr>
                <a:xfrm flipH="1">
                  <a:off x="4600355" y="4981374"/>
                  <a:ext cx="584066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/>
                    <a:t>14550-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9F98F57-770D-4D2B-80FE-0229B1240A14}"/>
                    </a:ext>
                  </a:extLst>
                </p:cNvPr>
                <p:cNvSpPr txBox="1"/>
                <p:nvPr/>
              </p:nvSpPr>
              <p:spPr>
                <a:xfrm flipH="1">
                  <a:off x="4556613" y="3239499"/>
                  <a:ext cx="584066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/>
                    <a:t>17500-</a:t>
                  </a:r>
                </a:p>
              </p:txBody>
            </p:sp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C57E8754-02EE-4AAA-B278-F60D545DC5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69953" t="6535"/>
                <a:stretch/>
              </p:blipFill>
              <p:spPr>
                <a:xfrm>
                  <a:off x="7315200" y="6505342"/>
                  <a:ext cx="764712" cy="246221"/>
                </a:xfrm>
                <a:prstGeom prst="rect">
                  <a:avLst/>
                </a:prstGeom>
              </p:spPr>
            </p:pic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5CF84F24-2845-4501-B4B2-993590B475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r="77051" b="6535"/>
                <a:stretch/>
              </p:blipFill>
              <p:spPr>
                <a:xfrm>
                  <a:off x="5370610" y="6505342"/>
                  <a:ext cx="584067" cy="246221"/>
                </a:xfrm>
                <a:prstGeom prst="rect">
                  <a:avLst/>
                </a:prstGeom>
              </p:spPr>
            </p:pic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4230227C-F528-4902-BAA8-1C1AC2D4D2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/>
                <a:srcRect t="9981" b="7677"/>
                <a:stretch/>
              </p:blipFill>
              <p:spPr>
                <a:xfrm>
                  <a:off x="5022824" y="3144665"/>
                  <a:ext cx="3421038" cy="1560657"/>
                </a:xfrm>
                <a:prstGeom prst="rect">
                  <a:avLst/>
                </a:prstGeom>
              </p:spPr>
            </p:pic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C4B9E6D-8B0A-4ADA-8E11-0DB0A8105CF3}"/>
                    </a:ext>
                  </a:extLst>
                </p:cNvPr>
                <p:cNvSpPr txBox="1"/>
                <p:nvPr/>
              </p:nvSpPr>
              <p:spPr>
                <a:xfrm>
                  <a:off x="5794720" y="4655678"/>
                  <a:ext cx="93862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/>
                    <a:t>2009-01-01</a:t>
                  </a:r>
                </a:p>
              </p:txBody>
            </p:sp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C4B18037-2DBB-4D25-AF1C-4578C47243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/>
                <a:srcRect t="4061" b="7414"/>
                <a:stretch/>
              </p:blipFill>
              <p:spPr>
                <a:xfrm>
                  <a:off x="5022824" y="1359960"/>
                  <a:ext cx="3432538" cy="1592982"/>
                </a:xfrm>
                <a:prstGeom prst="rect">
                  <a:avLst/>
                </a:prstGeom>
              </p:spPr>
            </p:pic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D1B2DAA-4ACA-4184-A4D5-37530D495696}"/>
                    </a:ext>
                  </a:extLst>
                </p:cNvPr>
                <p:cNvSpPr txBox="1"/>
                <p:nvPr/>
              </p:nvSpPr>
              <p:spPr>
                <a:xfrm>
                  <a:off x="5794720" y="2906194"/>
                  <a:ext cx="93862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/>
                    <a:t>2011-01-01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F633B53-7D22-4186-A81A-CA9AD249BDD6}"/>
                    </a:ext>
                  </a:extLst>
                </p:cNvPr>
                <p:cNvSpPr txBox="1"/>
                <p:nvPr/>
              </p:nvSpPr>
              <p:spPr>
                <a:xfrm flipH="1">
                  <a:off x="4533980" y="1539571"/>
                  <a:ext cx="584066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/>
                    <a:t>32645-</a:t>
                  </a:r>
                </a:p>
              </p:txBody>
            </p:sp>
          </p:grp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58BECDB-1F09-4E18-B1A8-CFE3C5E2FF7D}"/>
                  </a:ext>
                </a:extLst>
              </p:cNvPr>
              <p:cNvSpPr txBox="1"/>
              <p:nvPr/>
            </p:nvSpPr>
            <p:spPr>
              <a:xfrm flipH="1">
                <a:off x="4746371" y="4382206"/>
                <a:ext cx="29203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0-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1ACA4DC-1A60-4A2B-8D56-4823DE1F7441}"/>
                  </a:ext>
                </a:extLst>
              </p:cNvPr>
              <p:cNvSpPr txBox="1"/>
              <p:nvPr/>
            </p:nvSpPr>
            <p:spPr>
              <a:xfrm flipH="1">
                <a:off x="4759974" y="2752713"/>
                <a:ext cx="29203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0-</a:t>
                </a: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7512B13-44F1-4160-97FA-38AC26DAF292}"/>
                </a:ext>
              </a:extLst>
            </p:cNvPr>
            <p:cNvSpPr txBox="1"/>
            <p:nvPr/>
          </p:nvSpPr>
          <p:spPr>
            <a:xfrm rot="16200000" flipH="1">
              <a:off x="4448147" y="2078922"/>
              <a:ext cx="73330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Wet (</a:t>
              </a:r>
              <a:r>
                <a:rPr lang="en-US" sz="900" dirty="0" err="1"/>
                <a:t>cfs</a:t>
              </a:r>
              <a:r>
                <a:rPr lang="en-US" sz="900" dirty="0"/>
                <a:t>)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B3D87AD-C635-47D1-B47F-133A74B2D339}"/>
                </a:ext>
              </a:extLst>
            </p:cNvPr>
            <p:cNvSpPr txBox="1"/>
            <p:nvPr/>
          </p:nvSpPr>
          <p:spPr>
            <a:xfrm rot="16200000" flipH="1">
              <a:off x="4481993" y="3804276"/>
              <a:ext cx="73330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mod (</a:t>
              </a:r>
              <a:r>
                <a:rPr lang="en-US" sz="900" dirty="0" err="1"/>
                <a:t>cfs</a:t>
              </a:r>
              <a:r>
                <a:rPr lang="en-US" sz="900" dirty="0"/>
                <a:t>)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4206944-5033-462B-A34E-3A9B096BA2FA}"/>
                </a:ext>
              </a:extLst>
            </p:cNvPr>
            <p:cNvSpPr txBox="1"/>
            <p:nvPr/>
          </p:nvSpPr>
          <p:spPr>
            <a:xfrm rot="16200000" flipH="1">
              <a:off x="4508737" y="5539562"/>
              <a:ext cx="73330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dry (</a:t>
              </a:r>
              <a:r>
                <a:rPr lang="en-US" sz="900" dirty="0" err="1"/>
                <a:t>cfs</a:t>
              </a:r>
              <a:r>
                <a:rPr lang="en-US" sz="900" dirty="0"/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0525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A1969-0D3E-4073-A19B-6D87AF2EA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7440"/>
            <a:ext cx="7886700" cy="843188"/>
          </a:xfrm>
        </p:spPr>
        <p:txBody>
          <a:bodyPr/>
          <a:lstStyle/>
          <a:p>
            <a:r>
              <a:rPr lang="en-US" dirty="0"/>
              <a:t>Modeled E-flow Scenarios (Willis et al. FES)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18753DB-0B51-4721-AAF2-97032A81F9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3061" y="880282"/>
            <a:ext cx="6697877" cy="552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048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6631</TotalTime>
  <Words>1864</Words>
  <Application>Microsoft Macintosh PowerPoint</Application>
  <PresentationFormat>On-screen Show (4:3)</PresentationFormat>
  <Paragraphs>550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Wet Season Baseflow – Tuolumne (La Grange)</vt:lpstr>
      <vt:lpstr>Spring Recession Flow – Tuolumne (La Grange)</vt:lpstr>
      <vt:lpstr>Dry Season Baseflow – Tuolumne (La Grange)</vt:lpstr>
      <vt:lpstr>Tuolumne Estimated FF Volumes</vt:lpstr>
      <vt:lpstr>Spring Recession Flow – Tuolumne (La Grange)</vt:lpstr>
      <vt:lpstr>Spring Recession Flow – Tuolumne (La Grange)</vt:lpstr>
      <vt:lpstr>Wet Season Baseflow – Tuolumne (La Grange)</vt:lpstr>
      <vt:lpstr>Wet Season Baseflow – Tuolumne (La Grange)</vt:lpstr>
      <vt:lpstr>Dry Season Baseflow – Tuolumne (La Grange)</vt:lpstr>
      <vt:lpstr>Dry Season Baseflow – Tuolumne (La Grange)</vt:lpstr>
      <vt:lpstr>Rule set for implementing FF metrics/criteria  (Willis et al. FES)</vt:lpstr>
      <vt:lpstr>Modeled E-flow Scenarios (Willis et al. FES)</vt:lpstr>
      <vt:lpstr>Modeled E-flow Scenarios (Willis et al. FES)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Recession Flow – Tuolumne (La Grange)</dc:title>
  <dc:creator>Sarah Yarnell</dc:creator>
  <cp:lastModifiedBy>Lindsay Evelyn Murdoch</cp:lastModifiedBy>
  <cp:revision>34</cp:revision>
  <dcterms:created xsi:type="dcterms:W3CDTF">2021-10-26T22:03:19Z</dcterms:created>
  <dcterms:modified xsi:type="dcterms:W3CDTF">2022-11-07T20:58:49Z</dcterms:modified>
</cp:coreProperties>
</file>